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2" r:id="rId3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6574" autoAdjust="0"/>
  </p:normalViewPr>
  <p:slideViewPr>
    <p:cSldViewPr snapToGrid="0" snapToObjects="1">
      <p:cViewPr varScale="1">
        <p:scale>
          <a:sx n="64" d="100"/>
          <a:sy n="64" d="100"/>
        </p:scale>
        <p:origin x="2358" y="90"/>
      </p:cViewPr>
      <p:guideLst>
        <p:guide orient="horz" pos="216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2655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時間：10:35（30秒）</a:t>
            </a:r>
          </a:p>
          <a:p>
            <a:r>
              <a:t>各位老師，歡迎回來。</a:t>
            </a:r>
          </a:p>
          <a:p>
            <a:r>
              <a:t>休息十分鐘充飽電了嗎？</a:t>
            </a:r>
          </a:p>
          <a:p>
            <a:r>
              <a:t>接下來這一個半小時是今天最重要的動手時段，由我帶大家一路做下去。</a:t>
            </a:r>
          </a:p>
          <a:p>
            <a:r>
              <a:t>上半場文盛老師講了工具的特性，也帶大家做了二十四週的課程規劃表；</a:t>
            </a:r>
          </a:p>
          <a:p>
            <a:r>
              <a:t>下半場我們要把剩下的東西一次做完，而且不是看我做，是每個人自己動手做。</a:t>
            </a:r>
          </a:p>
          <a:p>
            <a:r>
              <a:t>今天結束的時候，你會帶著一套你們學校自己的管理系統離開教室。</a:t>
            </a:r>
          </a:p>
          <a:p>
            <a:r>
              <a:t>我們開始。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時間：10:35-10:37（2分鐘）</a:t>
            </a:r>
          </a:p>
          <a:p>
            <a:r>
              <a:t>先把話說在前面：今天下課的時候，你的電腦裡、隨身碟裡，會有五樣具體的東西。</a:t>
            </a:r>
          </a:p>
          <a:p>
            <a:r>
              <a:t>第一，一套能跑的管理系統。</a:t>
            </a:r>
          </a:p>
          <a:p>
            <a:r>
              <a:t>不是示意圖、不是範例網站，是已經放了你們學校校名的版本，回去把學生名單貼進去就能開始用。</a:t>
            </a:r>
          </a:p>
          <a:p>
            <a:r>
              <a:t>第二，一份你自己做出來的學生回饋單，而且題目直接對到期末成果報告要填的那四個百分比。</a:t>
            </a:r>
          </a:p>
          <a:p>
            <a:r>
              <a:t>第三，出席加材料費的對帳表，九月第一週上課就用得到。</a:t>
            </a:r>
          </a:p>
          <a:p>
            <a:r>
              <a:t>第四，每間學校缺的表單不一樣，觀課紀錄表、專家聯絡單、演示紀錄表，等一下你自己挑一份，讓 AI 幫你做出來。</a:t>
            </a:r>
          </a:p>
          <a:p>
            <a:r>
              <a:t>第五樣是最值錢的：做這些東西的方法。</a:t>
            </a:r>
          </a:p>
          <a:p>
            <a:r>
              <a:t>前面四樣是魚，第五樣是釣竿。</a:t>
            </a:r>
          </a:p>
          <a:p>
            <a:r>
              <a:t>方法學會了，回學校之後不管再冒出什麼表單，你都是同一招解決。</a:t>
            </a:r>
          </a:p>
          <a:p>
            <a:r>
              <a:t>今</a:t>
            </a:r>
          </a:p>
          <a:p>
            <a:r>
              <a:t>天的比例大概是一半一半：我講解示範一半的時間，剩下一半全部是你們動手。</a:t>
            </a:r>
          </a:p>
          <a:p>
            <a:r>
              <a:t>把電腦準備好。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時間：10:37-10:39（2分鐘）</a:t>
            </a:r>
          </a:p>
          <a:p>
            <a:r>
              <a:t>路線圖長這樣，三輪循環：每一輪都是看我做，然後換你做。</a:t>
            </a:r>
          </a:p>
          <a:p>
            <a:r>
              <a:t>黃色的三段就是你們動手的時間，加起來剛好一半。</a:t>
            </a:r>
          </a:p>
          <a:p>
            <a:r>
              <a:t>收作品的規則先講：上半場的課程規劃表十點二十二已經收過了；</a:t>
            </a:r>
          </a:p>
          <a:p>
            <a:r>
              <a:t>下半場的兩件作品——回饋單、還有名單出席那份——隨做隨存，十一點五十統一收一次。</a:t>
            </a:r>
          </a:p>
          <a:p>
            <a:r>
              <a:t>時間若跟場次表有出入，一律以現場場次表為準。</a:t>
            </a:r>
          </a:p>
          <a:p>
            <a:r>
              <a:t>收作品不是考試，是讓我確認每個人手上的東西真的能用，帶回學校不會開天窗。</a:t>
            </a:r>
          </a:p>
          <a:p>
            <a:r>
              <a:t>另外先講救援規則：等一下動手的時候，卡住超過五分鐘，請直接舉手，不要自己奮戰。</a:t>
            </a:r>
          </a:p>
          <a:p>
            <a:r>
              <a:t>如果同一個問題有兩個人以上遇到，我會全班暫停統一處理。</a:t>
            </a:r>
          </a:p>
          <a:p>
            <a:r>
              <a:t>真的來不及，就先用我們準備好的範例檔往下走，回家再補。</a:t>
            </a:r>
          </a:p>
          <a:p>
            <a:r>
              <a:t>好，開始第一輪。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時間：10:39-10:42（3分鐘）</a:t>
            </a:r>
          </a:p>
          <a:p>
            <a:r>
              <a:t>上半場文盛老師講過官方成果報告書的架構，我只把最要命的一節拿出來：</a:t>
            </a:r>
          </a:p>
          <a:p>
            <a:r>
              <a:t>第肆節「效益達成情形」，整節就是七個百分比的填空。</a:t>
            </a:r>
          </a:p>
          <a:p>
            <a:r>
              <a:t>看左邊：一號到四號，學生興趣有沒有提升、上課專不專心、能不能自己操作實驗、能不能跟別人說明。</a:t>
            </a:r>
          </a:p>
          <a:p>
            <a:r>
              <a:t>這四個數字，唯一的來源是學生回饋單。</a:t>
            </a:r>
          </a:p>
          <a:p>
            <a:r>
              <a:t>第五個，出席率，唯一的來源是教室日誌。</a:t>
            </a:r>
          </a:p>
          <a:p>
            <a:r>
              <a:t>第六、第七是老師自評，那個好處理。</a:t>
            </a:r>
          </a:p>
          <a:p>
            <a:r>
              <a:t>重點是這句話：回饋單不是期末才想的附件。</a:t>
            </a:r>
          </a:p>
          <a:p>
            <a:r>
              <a:t>如果學期初沒把題目和紀錄方式準備好，明年六月要寫報告的那一刻，這四個數字是生不出來的，而且補不回來。</a:t>
            </a:r>
          </a:p>
          <a:p>
            <a:r>
              <a:t>發放的時點是期末最後一兩堂課，發下去、當場收回；學期初的工作是把單子準備好、放進社團資料夾。</a:t>
            </a:r>
          </a:p>
          <a:p>
            <a:r>
              <a:t>所以今天的順序不是隨便排的。</a:t>
            </a:r>
          </a:p>
          <a:p>
            <a:r>
              <a:t>先做回饋單，因為它最急，期限就是開學；</a:t>
            </a:r>
          </a:p>
          <a:p>
            <a:r>
              <a:t>再做名單和出席，因為教室日誌是核銷的憑據；</a:t>
            </a:r>
          </a:p>
          <a:p>
            <a:r>
              <a:t>最後學組裝和驗收。</a:t>
            </a:r>
          </a:p>
          <a:p>
            <a:r>
              <a:t>每一步都直接對到報告的某一節。</a:t>
            </a:r>
          </a:p>
          <a:p>
            <a:r>
              <a:t>平常把這些做好，期末報告就是把東西疊起來，這就是「把想做的事做好，報告就寫完了」。</a:t>
            </a:r>
          </a:p>
          <a:p>
            <a:r>
              <a:t>補一句要講清楚的：這四個百分比的分子、分母和門檻，官方文件沒有寫死，送件前以基金會窗口的答覆為準——</a:t>
            </a:r>
          </a:p>
          <a:p>
            <a:r>
              <a:t>今天教的是讓數字「生得出來」的方法，口徑確認了隨時填得上。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時間：10:42-10:48（6分鐘，現場示範）</a:t>
            </a:r>
          </a:p>
          <a:p>
            <a:r>
              <a:t>【示範動作】投影機切到瀏覽器，開 rlirdo.github.io/yangwang-club-manager，照投影片順序走六個分頁，邊點邊講。</a:t>
            </a:r>
          </a:p>
          <a:p>
            <a:r>
              <a:t>口播參考：這就是今天的主角。</a:t>
            </a:r>
          </a:p>
          <a:p>
            <a:r>
              <a:t>第一個分頁，總覽。</a:t>
            </a:r>
          </a:p>
          <a:p>
            <a:r>
              <a:t>上面七張卡片就是剛剛講的七個百分比，現在是空的，等資料進來它自己會算；</a:t>
            </a:r>
          </a:p>
          <a:p>
            <a:r>
              <a:t>中間是結案要交的十二項文件追蹤，做完一項勾一項；旁邊有一顆「列印成果報告書素材頁」，期末把基本資料和七個數字一鍵印成一張 A4。</a:t>
            </a:r>
          </a:p>
          <a:p>
            <a:r>
              <a:t>第二，學生名單。</a:t>
            </a:r>
          </a:p>
          <a:p>
            <a:r>
              <a:t>我從 Excel 複製十五個學生，連標題列一起框到也沒關係——直接貼上、按匯入，它會說「匯入 15 位，第 1 列看起來像標題列，已略過」。</a:t>
            </a:r>
          </a:p>
          <a:p>
            <a:r>
              <a:t>要交附件一，按「列印學生名單」。</a:t>
            </a:r>
          </a:p>
          <a:p>
            <a:r>
              <a:t>第三，課程規劃表。</a:t>
            </a:r>
          </a:p>
          <a:p>
            <a:r>
              <a:t>上午跟文盛老師做的二十四週表就貼在這裡；週數不是寫死的——</a:t>
            </a:r>
          </a:p>
          <a:p>
            <a:r>
              <a:t>豐山排二十八週，到總覽把總週數改成 28 就多出四列；每一週還有「時數」欄，預設 2、可以改 3，時數表會照實加總，鐘點費才不會少報。</a:t>
            </a:r>
          </a:p>
          <a:p>
            <a:r>
              <a:t>第四，教室日誌。</a:t>
            </a:r>
          </a:p>
          <a:p>
            <a:r>
              <a:t>選第一週——注意，進去就已經預設全到，口訣是「先按『全到』，再改掉沒來的」。</a:t>
            </a:r>
          </a:p>
          <a:p>
            <a:r>
              <a:t>我把兩個學生改成缺席和請假，看下面這行：本週出席十三人，加實際授課教師——系統讀基本資料實填的指導老師數，示範裡是兩位——材料費十五份。</a:t>
            </a:r>
          </a:p>
          <a:p>
            <a:r>
              <a:t>順便講口徑：出席率的分母是總報名人數，請假、缺席都算在分母裡。</a:t>
            </a:r>
          </a:p>
          <a:p>
            <a:r>
              <a:t>點到一半漏人，它會紅字警告你「還有幾位未點名」。</a:t>
            </a:r>
          </a:p>
          <a:p>
            <a:r>
              <a:t>同一頁下面是「本週課程紀錄」：一段文字加照片檔名和圖說，這就是期末報告「參」的素材，有一顆專屬的列印鍵。</a:t>
            </a:r>
          </a:p>
          <a:p>
            <a:r>
              <a:t>第五，學生回饋單。</a:t>
            </a:r>
          </a:p>
          <a:p>
            <a:r>
              <a:t>這顆按鈕印出來的空白單就是發給學生的；期末回收後把每一題人數填進來，百分比自動算，而且它會勾稽：合計超過回收份數會紅字叫你檢查。</a:t>
            </a:r>
          </a:p>
          <a:p>
            <a:r>
              <a:t>最下面有第 5 題開放作答的彙整框，寫「伍」的時候直接取材。</a:t>
            </a:r>
          </a:p>
          <a:p>
            <a:r>
              <a:t>第六，經費核銷。</a:t>
            </a:r>
          </a:p>
          <a:p>
            <a:r>
              <a:t>抬頭那行紅字先唸一次：身分證字號、戶籍住址、匯款帳號不貼進任何 AI。</a:t>
            </a:r>
          </a:p>
          <a:p>
            <a:r>
              <a:t>下面印著材料費核算公式：（上課人數＋實際授課教師人數）乘主題乘二百五十元；</a:t>
            </a:r>
          </a:p>
          <a:p>
            <a:r>
              <a:t>還有一行粗體：材料費、餐費、茶水費的發票要開基金會統編，八二三三九五六三，財團法人仰望教育基金會。</a:t>
            </a:r>
          </a:p>
          <a:p>
            <a:r>
              <a:t>登記一筆材料費，選對應週次——或選「整學期／未指定」，對帳表會用全期合計去比；上下期它也自動判別。</a:t>
            </a:r>
          </a:p>
          <a:p>
            <a:r>
              <a:t>最後看「備份與設定」：匯出備份，一個檔案，存學校配發的隨身碟。</a:t>
            </a:r>
          </a:p>
          <a:p>
            <a:r>
              <a:t>資料只在你電腦裡，不會上傳到任何地方。</a:t>
            </a:r>
          </a:p>
          <a:p>
            <a:r>
              <a:t>先埋一個重要提醒，動手二會再講一次：線上版（github.io）和桌面檔（file://）資料不互通，今天統一用桌面那一份。</a:t>
            </a:r>
          </a:p>
          <a:p>
            <a:r>
              <a:t>看起來功能很多，但重點是：這個東西不是工程師寫出來的，是用你們等一下要學的方法「叫 AI 做出來的」。</a:t>
            </a:r>
          </a:p>
          <a:p>
            <a:r>
              <a:t>怎麼叫？下一頁。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時間：10:48 前（3分鐘）</a:t>
            </a:r>
          </a:p>
          <a:p>
            <a:r>
              <a:t>方法就這一張圖，三個角色。</a:t>
            </a:r>
          </a:p>
          <a:p>
            <a:r>
              <a:t>領隊是 ChatGPT。</a:t>
            </a:r>
          </a:p>
          <a:p>
            <a:r>
              <a:t>它負責想清楚：這份文件要有哪些欄位、什麼格式、有什麼規則。</a:t>
            </a:r>
          </a:p>
          <a:p>
            <a:r>
              <a:t>它產出的是一段文字，我們叫它規格。</a:t>
            </a:r>
          </a:p>
          <a:p>
            <a:r>
              <a:t>這活很輕，所以交給隨時都能問的 ChatGPT。</a:t>
            </a:r>
          </a:p>
          <a:p>
            <a:r>
              <a:t>隊員是 Antigravity。</a:t>
            </a:r>
          </a:p>
          <a:p>
            <a:r>
              <a:t>它拿著規格，真的把檔案做出來，一個你點兩下就能打開的東西。</a:t>
            </a:r>
          </a:p>
          <a:p>
            <a:r>
              <a:t>這活很重，而且 Antigravity 的免費額度是一週給一次，用完要等一週。</a:t>
            </a:r>
          </a:p>
          <a:p>
            <a:r>
              <a:t>所以行前信才提醒大家額度留到今天，等一下就是花它的時候。</a:t>
            </a:r>
          </a:p>
          <a:p>
            <a:r>
              <a:t>第三個角色最容易被省略，但千萬不要省：檢查員。</a:t>
            </a:r>
          </a:p>
          <a:p>
            <a:r>
              <a:t>做完之後，把成品拿回去給 ChatGPT，對照官方要求挑錯。</a:t>
            </a:r>
          </a:p>
          <a:p>
            <a:r>
              <a:t>為什麼做事的和挑錯的不能是同一個？因為 AI 會說謊，而且說得跟真的一樣。</a:t>
            </a:r>
          </a:p>
          <a:p>
            <a:r>
              <a:t>下一頁給你們看兩個我們自己踩過的坑。</a:t>
            </a:r>
          </a:p>
          <a:p>
            <a:r>
              <a:t>記住這個節奏：規格、成品、驗收。</a:t>
            </a:r>
          </a:p>
          <a:p>
            <a:r>
              <a:t>今天完整練三次，練到變成反射動作。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時間：10:45 前後（3分鐘）</a:t>
            </a:r>
          </a:p>
          <a:p>
            <a:r>
              <a:t>動手之前，這一頁請大家認真看，因為這是我們自己踩過的坑。</a:t>
            </a:r>
          </a:p>
          <a:p>
            <a:r>
              <a:t>案例一：我們把十一張真的活動照片和一份真的計畫書放進資料夾，叫 AI 幫忙寫圖說。</a:t>
            </a:r>
          </a:p>
          <a:p>
            <a:r>
              <a:t>它跑了三分半，回報說計畫書讀取、照片判讀、圖說撰寫全部完成。</a:t>
            </a:r>
          </a:p>
          <a:p>
            <a:r>
              <a:t>聽起來很棒對不對？實際上它根本沒有讀我們的資料夾，自己編了一個完全不存在的 micro:bit 智慧澆水計畫，還自己生了四張假照片。</a:t>
            </a:r>
          </a:p>
          <a:p>
            <a:r>
              <a:t>最可怕的是，它做出來的網頁真的能打開、能操作，只是裡面全是假的。</a:t>
            </a:r>
          </a:p>
          <a:p>
            <a:r>
              <a:t>案例二更陰險。</a:t>
            </a:r>
          </a:p>
          <a:p>
            <a:r>
              <a:t>老師只寫了六個字：購買的百合珠芽。</a:t>
            </a:r>
          </a:p>
          <a:p>
            <a:r>
              <a:t>AI 幫他擴寫成「因儲藏不當受潮黑化發霉，成為課堂討論保存條件的突發教材」。</a:t>
            </a:r>
          </a:p>
          <a:p>
            <a:r>
              <a:t>文筆很好、故事很動人，但這件事從來沒有發生過。</a:t>
            </a:r>
          </a:p>
          <a:p>
            <a:r>
              <a:t>這種內容放進成果報告，被基金會問起來就麻煩了。</a:t>
            </a:r>
          </a:p>
          <a:p>
            <a:r>
              <a:t>所以右邊三句口訣，等一下每做完一件事就跑一遍：</a:t>
            </a:r>
          </a:p>
          <a:p>
            <a:r>
              <a:t>第一，對路徑，檔案在哪、打不打得開；第二，對數量，我給十一張，它處理幾張；第三，抽查內容，隨便挑一項對照事實。</a:t>
            </a:r>
          </a:p>
          <a:p>
            <a:r>
              <a:t>三個都過，才相信它說的完成。</a:t>
            </a:r>
          </a:p>
          <a:p>
            <a:r>
              <a:t>好，接下來換你們動手。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時間：10:48-10:50（2分鐘說明）</a:t>
            </a:r>
          </a:p>
          <a:p>
            <a:r>
              <a:t>動手一正式開始，目標：二十分鐘後，每個人手上有一份自己學校的回饋單。</a:t>
            </a:r>
          </a:p>
          <a:p>
            <a:r>
              <a:t>第一步很簡單。</a:t>
            </a:r>
          </a:p>
          <a:p>
            <a:r>
              <a:t>打開 ChatGPT 桌面版，把左邊這張卡片一複製過去。</a:t>
            </a:r>
          </a:p>
          <a:p>
            <a:r>
              <a:t>卡片在共用資料夾裡，檔名叫提示詞卡一，不用手打，複製貼上就好。</a:t>
            </a:r>
          </a:p>
          <a:p>
            <a:r>
              <a:t>但是有兩個底線一定要改：你們學校的名字，和你們社團的主題。</a:t>
            </a:r>
          </a:p>
          <a:p>
            <a:r>
              <a:t>科學社、天文社、環境調查社，你寫什麼，它就往那個方向幫你設計題目。</a:t>
            </a:r>
          </a:p>
          <a:p>
            <a:r>
              <a:t>注意最後一句話：請它先只給規格、不要寫程式。</a:t>
            </a:r>
          </a:p>
          <a:p>
            <a:r>
              <a:t>我們現在要的是它幫忙想清楚題目怎麼設計、百分比怎麼算，確認方向對了，下一步才交給隊員去做。</a:t>
            </a:r>
          </a:p>
          <a:p>
            <a:r>
              <a:t>這就是領隊的工作。</a:t>
            </a:r>
          </a:p>
          <a:p>
            <a:r>
              <a:t>送出之後它會回你一份題目設計說明。</a:t>
            </a:r>
          </a:p>
          <a:p>
            <a:r>
              <a:t>花一分鐘讀一下，特別看四個題目是不是真的對到四個百分比。</a:t>
            </a:r>
          </a:p>
          <a:p>
            <a:r>
              <a:t>覺得題目太難、太簡單，直接用中文叫它改，改到你滿意為止。</a:t>
            </a:r>
          </a:p>
          <a:p>
            <a:r>
              <a:t>兩分鐘後我們進下一步。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時間：10:50-10:55（5分鐘動手，講師巡場）</a:t>
            </a:r>
          </a:p>
          <a:p>
            <a:r>
              <a:t>【巡場提醒】這五分鐘讓老師跟 ChatGPT 來回改題目。</a:t>
            </a:r>
          </a:p>
          <a:p>
            <a:r>
              <a:t>巡場時看每個人的畫面，重點檢查兩件事：規格有沒有四塊都齊（題目、對應、量表、算法）；題目是不是真的對到官方四個百分比。</a:t>
            </a:r>
          </a:p>
          <a:p>
            <a:r>
              <a:t>常見狀況一：老師直接接受第一版，沒有來回修改。</a:t>
            </a:r>
          </a:p>
          <a:p>
            <a:r>
              <a:t>提醒他：它是你的助理，不是長官，題目你最懂，孩子你最熟，看不順眼就叫它改，用中文講就可以。</a:t>
            </a:r>
          </a:p>
          <a:p>
            <a:r>
              <a:t>常見狀況二：ChatGPT 直接寫了一堆程式碼。</a:t>
            </a:r>
          </a:p>
          <a:p>
            <a:r>
              <a:t>請老師補一句「先不要寫程式，只要題目設計說明」。</a:t>
            </a:r>
          </a:p>
          <a:p>
            <a:r>
              <a:t>常見狀況三：低年級老師覺得四點量表太難。</a:t>
            </a:r>
          </a:p>
          <a:p>
            <a:r>
              <a:t>可以叫它改成三個笑臉，這正好是官方草稿裡本來就想問的問題。</a:t>
            </a:r>
          </a:p>
          <a:p>
            <a:r>
              <a:t>最後兩分鐘廣播提醒：滿意之後，跟它說「請把最終版規格完整列出來」，把那一段整段複製起來，下一步要餵給隊員。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時間：10:55-11:03（8分鐘動手，講師巡場）</a:t>
            </a:r>
          </a:p>
          <a:p>
            <a:r>
              <a:t>【開場口播（1分鐘）】現在打開 Antigravity。</a:t>
            </a:r>
          </a:p>
          <a:p>
            <a:r>
              <a:t>這是今天第一次花它的額度，值得。</a:t>
            </a:r>
          </a:p>
          <a:p>
            <a:r>
              <a:t>左邊卡片二複製過去，中間那個括號，把剛才 ChatGPT 給你的最終版規格整段貼進去。</a:t>
            </a:r>
          </a:p>
          <a:p>
            <a:r>
              <a:t>存檔位置那句不用改——它會存到 Antigravity 現在開著的資料夾根目錄，不必貼任何路徑。</a:t>
            </a:r>
          </a:p>
          <a:p>
            <a:r>
              <a:t>送出，然後讓它跑，大概一到三分鐘。</a:t>
            </a:r>
          </a:p>
          <a:p>
            <a:r>
              <a:t>【巡場提醒】它跑的時候老師會緊張，先預告：畫面會一直動、會自己寫程式，不用管它，等它說做完。</a:t>
            </a:r>
          </a:p>
          <a:p>
            <a:r>
              <a:t>做完最重要的一行字是「檔案存在哪裡」，請老師把那個路徑抄下來或截圖。</a:t>
            </a:r>
          </a:p>
          <a:p>
            <a:r>
              <a:t>常見狀況一：找不到檔案。</a:t>
            </a:r>
          </a:p>
          <a:p>
            <a:r>
              <a:t>不是失敗，通常存到暫存資料夾去了，直接問它「檔案在哪，幫我存到桌面」。</a:t>
            </a:r>
          </a:p>
          <a:p>
            <a:r>
              <a:t>常見狀況二：額度用完了。</a:t>
            </a:r>
          </a:p>
          <a:p>
            <a:r>
              <a:t>用我們準備的範例回饋單檔往下走，回家額度恢復再自己做一次。</a:t>
            </a:r>
          </a:p>
          <a:p>
            <a:r>
              <a:t>常見狀況三：做出來的版面很醜或欄位擠。</a:t>
            </a:r>
          </a:p>
          <a:p>
            <a:r>
              <a:t>跟它說「A4 直式、字體加大、選項框加大」，它會改。</a:t>
            </a:r>
          </a:p>
          <a:p>
            <a:r>
              <a:t>【收尾口播】做完的老師，立刻跑三句口訣：檔案打得開嗎？四題都在嗎？題目跟你的規格一致嗎？</a:t>
            </a:r>
          </a:p>
          <a:p>
            <a:r>
              <a:t>三個都過，把檔案改名成「學校名＿回饋單」，等一下收作品。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時間：11:05-11:09（檢查點＋喘口氣，2分鐘）</a:t>
            </a:r>
          </a:p>
          <a:p>
            <a:r>
              <a:t>第一輪動手到這裡。</a:t>
            </a:r>
          </a:p>
          <a:p>
            <a:r>
              <a:t>三個動作：確認檔案開得起來、改名成學校名加回饋單、先拖進桌面的繳交資料夾——正式收件是十一點五十，兩件作品一起收，現在先放進去就不會忘。</a:t>
            </a:r>
          </a:p>
          <a:p>
            <a:r>
              <a:t>還在跑的老師不用慌，先把範例檔放進去也算過關，今天重要的是方法，成品你回家做得出來。</a:t>
            </a:r>
          </a:p>
          <a:p>
            <a:r>
              <a:t>【停頓，等大家操作】</a:t>
            </a:r>
          </a:p>
          <a:p>
            <a:r>
              <a:t>好，恭喜各位，你們剛剛完成了一件事：從零開始，用兩個 AI 接力，做出一份你們學校自己的、直接對到官方百分比的回饋單。</a:t>
            </a:r>
          </a:p>
          <a:p>
            <a:r>
              <a:t>這張單子開學前先印好放進社團資料夾。</a:t>
            </a:r>
          </a:p>
          <a:p>
            <a:r>
              <a:t>真正發給學生、當場收回，是期末最後一兩堂課。</a:t>
            </a:r>
          </a:p>
          <a:p>
            <a:r>
              <a:t>今天先把題目做對，六月才填得出那四個百分比。</a:t>
            </a:r>
          </a:p>
          <a:p>
            <a:r>
              <a:t>下一輪我們解決第五個百分比：出席率。</a:t>
            </a:r>
          </a:p>
          <a:p>
            <a:r>
              <a:t>還有那個讓所有承辦人頭痛的東西——核銷。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時間：11:09-11:12（3分鐘）</a:t>
            </a:r>
          </a:p>
          <a:p>
            <a:r>
              <a:t>第二輪，先看一條基金會的核銷實務：材料費的份數，要和教室日誌上的「出席學生數加實際授課教師人數」相符——</a:t>
            </a:r>
          </a:p>
          <a:p>
            <a:r>
              <a:t>教師人數不是寫死兩位，是你們學校實際帶課的老師數，系統會讀基本資料實填的指導老師。</a:t>
            </a:r>
          </a:p>
          <a:p>
            <a:r>
              <a:t>金額的核算公式也記一下：上課人數加實際授課教師人數，乘主題、乘二百五十元。</a:t>
            </a:r>
          </a:p>
          <a:p>
            <a:r>
              <a:t>翻譯成白話：出席表上寫十二個人，材料費收據卻開十五份，出納對不起來，單子退回。</a:t>
            </a:r>
          </a:p>
          <a:p>
            <a:r>
              <a:t>所以教室日誌不是應付用的形式文件，它就是核銷的憑據本身。</a:t>
            </a:r>
          </a:p>
          <a:p>
            <a:r>
              <a:t>【示範動作：切到系統教室日誌分頁】看一次流程：第三週，點名，十二個出席、兩個請假。</a:t>
            </a:r>
          </a:p>
          <a:p>
            <a:r>
              <a:t>下面這行字直接告訴你：出席十二人，加授課教師兩位（這個示範的學校填了兩位老師），材料費十四份。</a:t>
            </a:r>
          </a:p>
          <a:p>
            <a:r>
              <a:t>下週買材料就買十四份，收據開十四份，數字對得整整齊齊。</a:t>
            </a:r>
          </a:p>
          <a:p>
            <a:r>
              <a:t>同時系統在背後累計出席率——口徑是定案的：分母是總報名人數，請假、缺席都算在分母裡——這就是官方第五項百分比，期末自動出現在總覽，一秒都不用算。</a:t>
            </a:r>
          </a:p>
          <a:p>
            <a:r>
              <a:t>點名這個動作每週三十秒，換來的是核銷不退件、出席率不用算。</a:t>
            </a:r>
          </a:p>
          <a:p>
            <a:r>
              <a:t>這筆帳很划算。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時間：11:12-11:14（2分半＋紅線與統編30秒）</a:t>
            </a:r>
          </a:p>
          <a:p>
            <a:r>
              <a:t>橫幅這行也唸一次：材料費、餐費、茶水費的發票或收據，統編要開基金會的——八二三三九五六三，財團法人仰望教育基金會。</a:t>
            </a:r>
          </a:p>
          <a:p>
            <a:r>
              <a:t>開成學校統編就退件重開，這行系統核銷分頁抬頭也印著。</a:t>
            </a:r>
          </a:p>
          <a:p>
            <a:r>
              <a:t>第四顆地雷花三十秒講：身分證字號、戶籍住址、匯款帳號，這三樣不貼進任何 AI、也不放雲端，只在學校的紙本表上寫——核銷印領清冊那兩欄本來就是手寫欄位，不要把它數位化。</a:t>
            </a:r>
          </a:p>
          <a:p>
            <a:r>
              <a:t>AI 幫你算的是時數、份數、金額，不碰身分資料。</a:t>
            </a:r>
          </a:p>
          <a:p>
            <a:r>
              <a:t>系統的核銷分頁抬頭印著同一句，回去會一直看到。</a:t>
            </a:r>
          </a:p>
          <a:p>
            <a:r>
              <a:t>三個地雷，每一個都是真的會讓單子被退回來的。</a:t>
            </a:r>
          </a:p>
          <a:p>
            <a:r>
              <a:t>第一，上下期要分開。</a:t>
            </a:r>
          </a:p>
          <a:p>
            <a:r>
              <a:t>這個計畫跨年度，二〇二六年九到十二月是一期，二〇二七年一到六月是另一期，同一張請購單不能混。</a:t>
            </a:r>
          </a:p>
          <a:p>
            <a:r>
              <a:t>跨期的東西，直接拆成兩張單子。</a:t>
            </a:r>
          </a:p>
          <a:p>
            <a:r>
              <a:t>第二，鐘點費認的是實際上課日期，不是你送請購的日期。</a:t>
            </a:r>
          </a:p>
          <a:p>
            <a:r>
              <a:t>所以時數表上的日期要跟教室日誌的日期一模一樣。</a:t>
            </a:r>
          </a:p>
          <a:p>
            <a:r>
              <a:t>第三，材料費認的是發票上的日期，而且份數就是剛剛講的出席加二。</a:t>
            </a:r>
          </a:p>
          <a:p>
            <a:r>
              <a:t>收據拿到手，先跟點名結果對過再送出去。</a:t>
            </a:r>
          </a:p>
          <a:p>
            <a:r>
              <a:t>好消息是，這三條我們都做進系統了：核銷分頁登記的時候，它自動判別上下期、自動對材料費份數。</a:t>
            </a:r>
          </a:p>
          <a:p>
            <a:r>
              <a:t>但地雷還是要記在腦子裡，因為送單的最後一關是人不是系統。</a:t>
            </a:r>
          </a:p>
          <a:p>
            <a:r>
              <a:t>建議回去拿這一頁去找出納聊十分鐘，把校內格式對一次。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時間：11:14-11:15（1分鐘）</a:t>
            </a:r>
          </a:p>
          <a:p>
            <a:r>
              <a:t>動手二有兩個任務，前後各十分鐘。</a:t>
            </a:r>
          </a:p>
          <a:p>
            <a:r>
              <a:t>前半段，把你的學校裝進系統：共用資料夾裡有八個檔案，找你們學校名字的那一個，校名已經幫你們填好了。</a:t>
            </a:r>
          </a:p>
          <a:p>
            <a:r>
              <a:t>打開之後做三件事：貼名單、點一次名、匯出備份。</a:t>
            </a:r>
          </a:p>
          <a:p>
            <a:r>
              <a:t>有帶真名單的用真名單，沒帶的用我們準備的練習名單，回去再換。</a:t>
            </a:r>
          </a:p>
          <a:p>
            <a:r>
              <a:t>後半段是今天的重頭戲：從九份文件清單裡，挑一份你們學校還缺的，用剛剛學的同一招，自己做出來。</a:t>
            </a:r>
          </a:p>
          <a:p>
            <a:r>
              <a:t>這次沒有手把手了，因為你上一輪已經做過一次，我要看你們自己走完領隊、隊員、驗收這三步。</a:t>
            </a:r>
          </a:p>
          <a:p>
            <a:r>
              <a:t>開始。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時間：11:15-11:25（10分鐘動手，講師巡場）</a:t>
            </a:r>
          </a:p>
          <a:p>
            <a:r>
              <a:t>【開場口播（1分鐘）】照這四步走。</a:t>
            </a:r>
          </a:p>
          <a:p>
            <a:r>
              <a:t>開場前工作人員已經把你們學校那一份放到每台電腦桌面，</a:t>
            </a:r>
          </a:p>
          <a:p>
            <a:r>
              <a:t>檔名就是「編號加學校名」，例如豐山國小是 07 開頭那個。</a:t>
            </a:r>
          </a:p>
          <a:p>
            <a:r>
              <a:t>第一個動作只花三十秒：打開它、隨便點一下，右上角出現「已自動存檔」四個字，就代表你手上有一份會動的東西了。</a:t>
            </a:r>
          </a:p>
          <a:p>
            <a:r>
              <a:t>桌面真的找不到，掃投影片上的 QR 也拿得到。</a:t>
            </a:r>
          </a:p>
          <a:p>
            <a:r>
              <a:t>再講一次這個警告：線上版和桌面檔的資料是分開存的、不互通。</a:t>
            </a:r>
          </a:p>
          <a:p>
            <a:r>
              <a:t>今天全部用桌面檔，不要一半打在網頁版一半打在桌面版，回學校會以為資料不見了。</a:t>
            </a:r>
          </a:p>
          <a:p>
            <a:r>
              <a:t>特別提醒第四步一定要做：匯出備份。</a:t>
            </a:r>
          </a:p>
          <a:p>
            <a:r>
              <a:t>這個系統的資料存在瀏覽器裡，換一台電腦資料不會跟著走，要靠這個備份檔搬家。</a:t>
            </a:r>
          </a:p>
          <a:p>
            <a:r>
              <a:t>養成習慣：每次用完，匯出一次，丟隨身碟。</a:t>
            </a:r>
          </a:p>
          <a:p>
            <a:r>
              <a:t>【巡場提醒】</a:t>
            </a:r>
          </a:p>
          <a:p>
            <a:r>
              <a:t>狀況一：貼上名單沒反應或格式亂掉。</a:t>
            </a:r>
          </a:p>
          <a:p>
            <a:r>
              <a:t>看他是不是從 Word 複製的，請改從 Excel 複製，或直接手打幾個人測試。</a:t>
            </a:r>
          </a:p>
          <a:p>
            <a:r>
              <a:t>狀況二：老師問能不能改校名、改社團名。</a:t>
            </a:r>
          </a:p>
          <a:p>
            <a:r>
              <a:t>可以，總覽分頁基本資料那邊直接改，即改即存。</a:t>
            </a:r>
          </a:p>
          <a:p>
            <a:r>
              <a:t>狀況三：點名點錯。</a:t>
            </a:r>
          </a:p>
          <a:p>
            <a:r>
              <a:t>再點一下就換狀態，出席、缺席、請假三態循環。</a:t>
            </a:r>
          </a:p>
          <a:p>
            <a:r>
              <a:t>狀況四：問資料會不會不見。</a:t>
            </a:r>
          </a:p>
          <a:p>
            <a:r>
              <a:t>只要同一台電腦同一個瀏覽器就在；保險就是第四步的備份檔。</a:t>
            </a:r>
          </a:p>
          <a:p>
            <a:r>
              <a:t>提早做完的老師，讓他們探索列印功能：課程規劃表、簽到表、時數表都有一鍵列印，印出來就是可以直接用的紙本。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時間：11:25-11:27（2-3分鐘）</a:t>
            </a:r>
          </a:p>
          <a:p>
            <a:r>
              <a:t>來對一下帳。</a:t>
            </a:r>
          </a:p>
          <a:p>
            <a:r>
              <a:t>學校承接這個專案，一年下來要生出的文件，這張地圖告訴你每一份從哪來。</a:t>
            </a:r>
          </a:p>
          <a:p>
            <a:r>
              <a:t>左邊七份，系統已經內建：</a:t>
            </a:r>
          </a:p>
          <a:p>
            <a:r>
              <a:t>課程規劃表和時數表在課程規劃分頁；學生名單也就是附件一，名單分頁直接列印；</a:t>
            </a:r>
          </a:p>
          <a:p>
            <a:r>
              <a:t>簽到表在教室日誌；回饋單自己一個分頁；課程紀錄——就是剛剛示範的每週文字加照片檔名——也在教室日誌，列印出來就是「參」的初稿；</a:t>
            </a:r>
          </a:p>
          <a:p>
            <a:r>
              <a:t>核銷對帳一個分頁；最後總覽還有一顆「成果報告書素材頁」，把壹和肆一鍵印出。</a:t>
            </a:r>
          </a:p>
          <a:p>
            <a:r>
              <a:t>這七份今天就在你電腦裡了，要用的時候按列印就好。</a:t>
            </a:r>
          </a:p>
          <a:p>
            <a:r>
              <a:t>右邊四份，系統沒有內建，因為每間學校格式差很多——單元教案、觀課紀錄表、專家聯絡單和演示紀錄、教授訪視紀錄。</a:t>
            </a:r>
          </a:p>
          <a:p>
            <a:r>
              <a:t>這些就是用 AI 做的。</a:t>
            </a:r>
          </a:p>
          <a:p>
            <a:r>
              <a:t>最下面那個成果報告書是期末的組裝工作，下一輪我專門講。</a:t>
            </a:r>
          </a:p>
          <a:p>
            <a:r>
              <a:t>現在，每個人從右邊挑一份你們學校最缺的。</a:t>
            </a:r>
          </a:p>
          <a:p>
            <a:r>
              <a:t>帶社團要寫教案的挑教案；有專家入校的挑聯絡單和演示紀錄；教授要來訪視的挑訪視紀錄表。</a:t>
            </a:r>
          </a:p>
          <a:p>
            <a:r>
              <a:t>挑好了嗎？翻下一頁，萬用模板給你。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時間：11:27-11:37（10分鐘動手，講師巡場）</a:t>
            </a:r>
          </a:p>
          <a:p>
            <a:r>
              <a:t>【開場口播（1分鐘）】萬用模板長這樣，兩段式：上半段貼給 ChatGPT，把兩個底線填掉——文件名稱和用途。</a:t>
            </a:r>
          </a:p>
          <a:p>
            <a:r>
              <a:t>比方說：我需要一份觀課紀錄表，用途是行政同仁或教授到班觀課時記錄。</a:t>
            </a:r>
          </a:p>
          <a:p>
            <a:r>
              <a:t>它會回你欄位規格。</a:t>
            </a:r>
          </a:p>
          <a:p>
            <a:r>
              <a:t>看過覺得合理，下半段貼給 Antigravity，規格塞進去，路徑改成你的，送出。</a:t>
            </a:r>
          </a:p>
          <a:p>
            <a:r>
              <a:t>【巡場提醒】</a:t>
            </a:r>
          </a:p>
          <a:p>
            <a:r>
              <a:t>這一輪放手讓老師自己走完三步，我們只救火不代打。</a:t>
            </a:r>
          </a:p>
          <a:p>
            <a:r>
              <a:t>狀況一：不知道文件該有什麼欄位。</a:t>
            </a:r>
          </a:p>
          <a:p>
            <a:r>
              <a:t>請他先問 ChatGPT「這種表一般學校都放哪些欄位」，用它的建議當起點。</a:t>
            </a:r>
          </a:p>
          <a:p>
            <a:r>
              <a:t>狀況二：Antigravity 額度沒了。</a:t>
            </a:r>
          </a:p>
          <a:p>
            <a:r>
              <a:t>兩個辦法：跟同組有付費訂閱的老師併機做，或先把規格存起來回家做。</a:t>
            </a:r>
          </a:p>
          <a:p>
            <a:r>
              <a:t>每組我們都排了一位額度比較夠的老師，就是這時候用的。</a:t>
            </a:r>
          </a:p>
          <a:p>
            <a:r>
              <a:t>狀況三：想做教案的老師。</a:t>
            </a:r>
          </a:p>
          <a:p>
            <a:r>
              <a:t>提醒他規格裡加一句「對照上午的 24 週規劃表，以第幾週主題為例」，教案會直接扣著課程走。</a:t>
            </a:r>
          </a:p>
          <a:p>
            <a:r>
              <a:t>十一點三十五分左右開始廣播收作品：檔名改成「學校名＿文件名」，和前半段的系統備份檔一起拖進繳交資料夾。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時間：11:37-11:39（檢查點，1-2分鐘）</a:t>
            </a:r>
          </a:p>
          <a:p>
            <a:r>
              <a:t>第二輪動手到這裡。</a:t>
            </a:r>
          </a:p>
          <a:p>
            <a:r>
              <a:t>兩個檔案先放進繳交資料夾：</a:t>
            </a:r>
          </a:p>
          <a:p>
            <a:r>
              <a:t>一是系統的備份檔，裡面有你們的名單和第一週的點名紀錄；</a:t>
            </a:r>
          </a:p>
          <a:p>
            <a:r>
              <a:t>二是你剛做的那份表單。</a:t>
            </a:r>
          </a:p>
          <a:p>
            <a:r>
              <a:t>十一點五十統一收，跟第一件一起。</a:t>
            </a:r>
          </a:p>
          <a:p>
            <a:r>
              <a:t>先說一句話讓大家安心：三小時做不完是正常的——今天的目標是交出第一版、知道怎麼繼續，其餘的會後照教材網同一套頁面重做就好。</a:t>
            </a:r>
          </a:p>
          <a:p>
            <a:r>
              <a:t>【等待操作時口播】各位盤點一下手上有什麼了：</a:t>
            </a:r>
          </a:p>
          <a:p>
            <a:r>
              <a:t>課程規劃表，上午做的；</a:t>
            </a:r>
          </a:p>
          <a:p>
            <a:r>
              <a:t>回饋單，動手一做的；系統加名單加出席，動手二前半；</a:t>
            </a:r>
          </a:p>
          <a:p>
            <a:r>
              <a:t>再加一份你自己挑的表單。</a:t>
            </a:r>
          </a:p>
          <a:p>
            <a:r>
              <a:t>官方報告書的第貳節、第肆節、附件一二三，全部有著落。</a:t>
            </a:r>
          </a:p>
          <a:p>
            <a:r>
              <a:t>只剩最後一塊拼圖：期末的時候，這一堆東西怎麼變成一本報告？這就是最後一輪的主題。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時間：11:39-11:43（4分鐘）</a:t>
            </a:r>
          </a:p>
          <a:p>
            <a:r>
              <a:t>期末報告最可怕的想像，是六月的某個晚上從一張白紙開始寫。</a:t>
            </a:r>
          </a:p>
          <a:p>
            <a:r>
              <a:t>但如果今天的東西你有持續在用，報告其實是組裝，不是寫作。</a:t>
            </a:r>
          </a:p>
          <a:p>
            <a:r>
              <a:t>我們一節一節對。</a:t>
            </a:r>
          </a:p>
          <a:p>
            <a:r>
              <a:t>第壹節基本資料，到總覽按「列印成果報告書素材頁」，學校、社團、學年度、兩位指導老師一鍵印出，三十秒。</a:t>
            </a:r>
          </a:p>
          <a:p>
            <a:r>
              <a:t>第貳節課程規劃表，列印或匯出，時數欄都在上面，一分鐘。</a:t>
            </a:r>
          </a:p>
          <a:p>
            <a:r>
              <a:t>第參節課程紀錄——如果你每週有在教室日誌填那格「本週課程紀錄」，按「列印課程紀錄」出來的就是初稿；</a:t>
            </a:r>
          </a:p>
          <a:p>
            <a:r>
              <a:t>圖說用卡片四請 AI 照著照片寫，等一下講怎麼防它亂編。</a:t>
            </a:r>
          </a:p>
          <a:p>
            <a:r>
              <a:t>第肆節，效益達成情形，就是折磨大家的七個百分比——同一張素材頁上七個數字全部自動算好，而且每個數字後面帶著來源和分母，</a:t>
            </a:r>
          </a:p>
          <a:p>
            <a:r>
              <a:t>例如「回收 17 份：很同意 8＋同意 6」。</a:t>
            </a:r>
          </a:p>
          <a:p>
            <a:r>
              <a:t>別的學校期末在翻一整年的點名紙加計算機，你印一張 A4 照抄。</a:t>
            </a:r>
          </a:p>
          <a:p>
            <a:r>
              <a:t>第伍節結論與建議，材料就在回饋單分頁最下面那個「第 5 題彙整框」——學生最喜歡哪堂課、為什麼，平常抄進去，期末加上你的觀察，</a:t>
            </a:r>
          </a:p>
          <a:p>
            <a:r>
              <a:t>請 ChatGPT 潤成兩段；素材頁也會把它一起印出來。</a:t>
            </a:r>
          </a:p>
          <a:p>
            <a:r>
              <a:t>第陸節附件，名單用列印（座號 01 才不會被 Excel 吃掉）、出席總表 CSV、回饋單，系統出。</a:t>
            </a:r>
          </a:p>
          <a:p>
            <a:r>
              <a:t>全部加起來，期末組裝時間大概一個下午，而不是一個禮拜的夜。</a:t>
            </a:r>
          </a:p>
          <a:p>
            <a:r>
              <a:t>前提只有一個：平常有在系統裡點名、期末有發回饋單。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時間：11:43-11:47（3分半）</a:t>
            </a:r>
          </a:p>
          <a:p>
            <a:r>
              <a:t>第參節要十二張照片，但一年下來你手機裡會有兩百張。</a:t>
            </a:r>
          </a:p>
          <a:p>
            <a:r>
              <a:t>怎麼挑？三個問題。</a:t>
            </a:r>
          </a:p>
          <a:p>
            <a:r>
              <a:t>第一個問題：這張照片對應到第幾週？答不出來的照片不要選，因為報告裡每張照片都要能掛回課程規劃表。</a:t>
            </a:r>
          </a:p>
          <a:p>
            <a:r>
              <a:t>第二個問題：這一週已經有兩張了嗎？理想配置是一張看得到人在動作、一張是東西或成果，兩張就夠。</a:t>
            </a:r>
          </a:p>
          <a:p>
            <a:r>
              <a:t>第三個問題：今天有失敗或意外嗎？有的話優先放。</a:t>
            </a:r>
          </a:p>
          <a:p>
            <a:r>
              <a:t>不要覺得失敗的照片丟臉，官方計畫目的白紙黑字寫著從失敗中找原因，失敗照反而是加分題。</a:t>
            </a:r>
          </a:p>
          <a:p>
            <a:r>
              <a:t>另外一個習慣：按快門之前掃一眼背景。</a:t>
            </a:r>
          </a:p>
          <a:p>
            <a:r>
              <a:t>座位表、聯絡簿、制服上的姓名，個資不要進成果報告。</a:t>
            </a:r>
          </a:p>
          <a:p>
            <a:r>
              <a:t>照片挑好，圖說用右邊卡片四請 AI 寫。</a:t>
            </a:r>
          </a:p>
          <a:p>
            <a:r>
              <a:t>注意最後三行，這是我們實測出來的保命符：只寫看得到的、看不出來的標不確定、不要編故事。</a:t>
            </a:r>
          </a:p>
          <a:p>
            <a:r>
              <a:t>沒加這三行，百合珠芽會發霉；加了，它就老老實實寫氣泡紙上的深色種球。</a:t>
            </a:r>
          </a:p>
          <a:p>
            <a:r>
              <a:t>一字不差地留著它。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時間：11:47-11:54（7分鐘動手，講師巡場）</a:t>
            </a:r>
          </a:p>
          <a:p>
            <a:r>
              <a:t>【開場口播（1分鐘）】最後一輪動手，也是最短的一輪。</a:t>
            </a:r>
          </a:p>
          <a:p>
            <a:r>
              <a:t>把你今天做的兩樣東西——回饋單的題目、自製表單的欄位——貼進卡片五，交給 ChatGPT 當檢查員。</a:t>
            </a:r>
          </a:p>
          <a:p>
            <a:r>
              <a:t>注意最後一句：只要告訴我哪裡不對、怎麼補，不用重做。</a:t>
            </a:r>
          </a:p>
          <a:p>
            <a:r>
              <a:t>我們要的是問題清單，不是讓它再生一版。</a:t>
            </a:r>
          </a:p>
          <a:p>
            <a:r>
              <a:t>【巡場提醒】</a:t>
            </a:r>
          </a:p>
          <a:p>
            <a:r>
              <a:t>檢查結果通常三種：一，沒問題，恭喜通過；二，小問題，例如回饋單少了班級欄位、表單缺簽名欄，當場叫 Antigravity 補上或記下來回家補；</a:t>
            </a:r>
          </a:p>
          <a:p>
            <a:r>
              <a:t>三，它挑出一些其實沒錯的東西——提醒老師，檢查員也會過度緊張，它說的也要用自己的判斷過濾，你才是最後拍板的人。</a:t>
            </a:r>
          </a:p>
          <a:p>
            <a:r>
              <a:t>這一輪的真正目的，是讓「做完就檢查」變成習慣。</a:t>
            </a:r>
          </a:p>
          <a:p>
            <a:r>
              <a:t>以後每次 AI 跟你說完成了，你自然就會想到：對路徑、對數量、抽查內容，然後丟給另一個 AI 再看一次。</a:t>
            </a:r>
          </a:p>
          <a:p>
            <a:r>
              <a:t>這個習慣值一千個小時。</a:t>
            </a:r>
          </a:p>
          <a:p>
            <a:r>
              <a:t>十一點五十四分收尾，請大家回到座位。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時間：11:55-11:57（2分鐘）</a:t>
            </a:r>
          </a:p>
          <a:p>
            <a:r>
              <a:t>清點行李。</a:t>
            </a:r>
          </a:p>
          <a:p>
            <a:r>
              <a:t>第一，你們學校專屬版的系統加上備份檔，網址也在投影片上，回去重新下載永遠拿得到。</a:t>
            </a:r>
          </a:p>
          <a:p>
            <a:r>
              <a:t>第二，兩份你自己做的文件，回饋單和你挑的那份表單，都驗收過了。</a:t>
            </a:r>
          </a:p>
          <a:p>
            <a:r>
              <a:t>第三，五張提示詞卡，從出規格、做檔案、萬用模板、寫圖說到驗收，一整套流程的口令都在裡面——</a:t>
            </a:r>
          </a:p>
          <a:p>
            <a:r>
              <a:t>全文放在系統網站的 prompts 頁，每張卡都有「複製」鍵，畫面上有網址，共用資料夾也有一份。</a:t>
            </a:r>
          </a:p>
          <a:p>
            <a:r>
              <a:t>第四，參考資源和投稿機會——名額、義務、網址下一頁專頁講，這裡先不展開。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時間：11:55 前後（併入帶得走，約2分鐘）</a:t>
            </a:r>
          </a:p>
          <a:p>
            <a:r>
              <a:t>上一頁第四樣東西展開講。</a:t>
            </a:r>
          </a:p>
          <a:p>
            <a:r>
              <a:t>教案徵選：九月二十號星期日截止，國小組六名、國中高中組六名，不限花蓮的老師。</a:t>
            </a:r>
          </a:p>
          <a:p>
            <a:r>
              <a:t>入選的給付是三擇一：兩千元獎金、縣府敘獎、或縣府獎狀。</a:t>
            </a:r>
          </a:p>
          <a:p>
            <a:r>
              <a:t>要先講清楚義務：入選的作者至少一位要在十二月的種子教師研習營擔任講師，並協助拍一支教案說明影片——講師費另外給，但沒有代課費，請大家評估時間再投。</a:t>
            </a:r>
          </a:p>
          <a:p>
            <a:r>
              <a:t>要投的不是今天做的這些管理文件，是另外一份「兩節課加十分鐘闖關版」的實驗教案，用官方 C03 表格填。</a:t>
            </a:r>
          </a:p>
          <a:p>
            <a:r>
              <a:t>特別說一件事：C03 的「教案來源」欄位有一格就叫「AI 協作」，官方明講可以用 AI，只要附上協作舉證——</a:t>
            </a:r>
          </a:p>
          <a:p>
            <a:r>
              <a:t>你今天學的三段提示詞加驗收口訣，直接就是那份舉證。</a:t>
            </a:r>
          </a:p>
          <a:p>
            <a:r>
              <a:t>表格和範本都在畫面上那個雲端資料夾。</a:t>
            </a:r>
          </a:p>
          <a:p>
            <a:r>
              <a:t>右邊兩個資源：北濱國小的期末報告，六班小校、處境跟各位很像，值得學的是它怎麼寫失敗與轉折——</a:t>
            </a:r>
          </a:p>
          <a:p>
            <a:r>
              <a:t>第七頁那個百合珠芽的案例就出自這份；但注意，報告「格式」一律以仰望的成果報告書範本為準，別照抄它的格式。</a:t>
            </a:r>
          </a:p>
          <a:p>
            <a:r>
              <a:t>東華在地教案庫收了 2015 到 2026 歷年花蓮老師寫的教案，免登入、公開，備課素材直接拿。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時間：11:57 前後（2分鐘）</a:t>
            </a:r>
          </a:p>
          <a:p>
            <a:r>
              <a:t>最後想給大家看一個幕後花絮，因為它本身就是一堂課。</a:t>
            </a:r>
          </a:p>
          <a:p>
            <a:r>
              <a:t>你們今天用的這套教材和系統，是我和文盛老師「兩個人、各自帶自己的 AI」一起做出來的。</a:t>
            </a:r>
          </a:p>
          <a:p>
            <a:r>
              <a:t>流程長這樣：文盛老師的 AI 先實測我做的系統，開出二十九條改善工單——注意，其中九條被「人」推翻了，AI 說的我們沒有照單全收。</a:t>
            </a:r>
          </a:p>
          <a:p>
            <a:r>
              <a:t>然後我的 AI 逐條認領、動手修，每一條都要照工單上的驗收判準實測通過才算數。</a:t>
            </a:r>
          </a:p>
          <a:p>
            <a:r>
              <a:t>最後兩個人各自把關，所有紀錄都留在同一個 GitHub 倉庫裡：這一條是誰提的、誰改的、改之前長什麼樣，全部查得到。</a:t>
            </a:r>
          </a:p>
          <a:p>
            <a:r>
              <a:t>這正是今天教的「一個做、一個挑錯、人拍板」，只是放大到兩個人的規模。</a:t>
            </a:r>
          </a:p>
          <a:p>
            <a:r>
              <a:t>而且這個形狀你們回學校就用得上：兩位老師合帶一個社團，或者一位老師配一位行政——</a:t>
            </a:r>
          </a:p>
          <a:p>
            <a:r>
              <a:t>不用學任何工程師的東西，重點只有一句：東西放同一個地方，誰改了什麼看得到。</a:t>
            </a:r>
          </a:p>
          <a:p>
            <a:r>
              <a:t>想看倉庫紀錄的老師，現場我直接投影給大家看，網址在畫面下方。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時間：11:57-11:59（2分鐘）</a:t>
            </a:r>
          </a:p>
          <a:p>
            <a:r>
              <a:t>今天學的東西，一個禮拜不用就會生疏，所以回學校第一週只拜託四件事，都很小。</a:t>
            </a:r>
          </a:p>
          <a:p>
            <a:r>
              <a:t>第一，把回饋單印三十份，放進社團資料夾。</a:t>
            </a:r>
          </a:p>
          <a:p>
            <a:r>
              <a:t>注意時點：學期初的工作是「準備好」，發放是期末最後一兩堂課，發下去、當場收回，回收率才高。</a:t>
            </a:r>
          </a:p>
          <a:p>
            <a:r>
              <a:t>第二，拿到正式的社團名單，就貼進系統。</a:t>
            </a:r>
          </a:p>
          <a:p>
            <a:r>
              <a:t>第一週上完課，點名，順手把材料費登進去。</a:t>
            </a:r>
          </a:p>
          <a:p>
            <a:r>
              <a:t>只要第一週有做，後面每週就是三十秒的事。</a:t>
            </a:r>
          </a:p>
          <a:p>
            <a:r>
              <a:t>第三，拿著三個地雷那一頁去找出納，聊十分鐘，確認校內的請購單格式怎麼跟系統的紀錄對起來。</a:t>
            </a:r>
          </a:p>
          <a:p>
            <a:r>
              <a:t>出納是你核銷路上最重要的盟友，先把規則對齊，之後一路順。</a:t>
            </a:r>
          </a:p>
          <a:p>
            <a:r>
              <a:t>第四，照片的事：去問學校那份既有的個資同意書，利用範圍有沒有涵蓋「提供給校外單位作成果報告」。</a:t>
            </a:r>
          </a:p>
          <a:p>
            <a:r>
              <a:t>有涵蓋，記一筆備查就好；沒涵蓋，隨社團報名表補發一張。</a:t>
            </a:r>
          </a:p>
          <a:p>
            <a:r>
              <a:t>沒收到回條的孩子，拍背影或手部特寫，一樣能交差。</a:t>
            </a:r>
          </a:p>
          <a:p>
            <a:r>
              <a:t>最下面那行紅字也唸一次：電腦要送修、要還、要借人，先匯出備份、再清除全部資料——</a:t>
            </a:r>
          </a:p>
          <a:p>
            <a:r>
              <a:t>名單存在瀏覽器裡，光刪 HTML 檔是刪不掉的。</a:t>
            </a:r>
          </a:p>
          <a:p>
            <a:r>
              <a:t>這四件做完，明年六月的成果報告，你已經寫完一半了。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時間：11:59-12:00（1分鐘）</a:t>
            </a:r>
          </a:p>
          <a:p>
            <a:r>
              <a:t>收尾前再說一次：三小時做不完是正常的。</a:t>
            </a:r>
          </a:p>
          <a:p>
            <a:r>
              <a:t>今天帶走的是第一版和一套方法，其餘的會後照教材網同一套頁面、同一套提示詞卡重做就出來了。</a:t>
            </a:r>
          </a:p>
          <a:p>
            <a:r>
              <a:t>最後一分鐘，講一句真心話。</a:t>
            </a:r>
          </a:p>
          <a:p>
            <a:r>
              <a:t>今天大家覺得自己是新手，跟大家報一個數字：一一五學年度這個科學社團計畫，全台一共十八所學校參與——花蓮八所、中彰投十所。</a:t>
            </a:r>
          </a:p>
          <a:p>
            <a:r>
              <a:t>只有南投有一所學校在上學期試辦過一學期，其他通通是第一年。</a:t>
            </a:r>
          </a:p>
          <a:p>
            <a:r>
              <a:t>不是你們落後，是這條路大家一起在鋪。</a:t>
            </a:r>
          </a:p>
          <a:p>
            <a:r>
              <a:t>而且各位今天已經走在前面了：你們是全台第一批用 AI 把整套社團管理做起來的老師。</a:t>
            </a:r>
          </a:p>
          <a:p>
            <a:r>
              <a:t>回去用的過程有任何問題，信箱和電話都在畫面上，隨時來信，我們接力支援。</a:t>
            </a:r>
          </a:p>
          <a:p>
            <a:r>
              <a:t>中午休息，下午一點半見。</a:t>
            </a:r>
          </a:p>
          <a:p>
            <a:r>
              <a:t>謝謝大家！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時間：口頭帶到 30 秒即可。</a:t>
            </a:r>
          </a:p>
          <a:p>
            <a:r>
              <a:t>九所學校每一所都有自己的專屬版，校名已經預填好。</a:t>
            </a:r>
          </a:p>
          <a:p>
            <a:r>
              <a:t>點校名直達，或掃右上角 QR 進選校頁再點。</a:t>
            </a:r>
          </a:p>
          <a:p>
            <a:r>
              <a:t>第九所是西寶國小，李政蒲校長的學校，今天新加入。</a:t>
            </a:r>
          </a:p>
          <a:p>
            <a:r>
              <a:t>各校資料各自獨立存放，開別校的頁面不會弄亂自己的資料。</a:t>
            </a:r>
          </a:p>
          <a:p>
            <a:r>
              <a:t>回學校忘記網址，搜尋列打 rlirdo.github.io/yangwang-club-manager 就會到。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082735" y="-1463040"/>
            <a:ext cx="4754880" cy="4754880"/>
          </a:xfrm>
          <a:prstGeom prst="ellipse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97280" y="4663440"/>
            <a:ext cx="3291840" cy="3291840"/>
          </a:xfrm>
          <a:prstGeom prst="ellipse">
            <a:avLst/>
          </a:prstGeom>
          <a:solidFill>
            <a:srgbClr val="0E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5FA98A"/>
                </a:solidFill>
                <a:latin typeface="Microsoft JhengHei"/>
                <a:ea typeface="Microsoft JhengHei"/>
              </a:rPr>
              <a:t>國中小科學社團扶助計畫・花蓮地區科學社團教師研習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6070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3800" b="1" i="0">
                <a:solidFill>
                  <a:srgbClr val="FFFFFF"/>
                </a:solidFill>
                <a:latin typeface="Microsoft JhengHei"/>
                <a:ea typeface="Microsoft JhengHei"/>
              </a:rPr>
              <a:t>從零打造：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3800" b="1" i="0">
                <a:solidFill>
                  <a:srgbClr val="FFFFFF"/>
                </a:solidFill>
                <a:latin typeface="Microsoft JhengHei"/>
                <a:ea typeface="Microsoft JhengHei"/>
              </a:rPr>
              <a:t>你學校的仰望社團管理系統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118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0" i="1">
                <a:solidFill>
                  <a:srgbClr val="9FB4CC"/>
                </a:solidFill>
                <a:latin typeface="Microsoft JhengHei"/>
                <a:ea typeface="Microsoft JhengHei"/>
              </a:rPr>
              <a:t>Build Your Own Club Management System — with ChatGPT &amp; Antigravity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160520"/>
            <a:ext cx="1755648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講解示範 50%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4160520"/>
            <a:ext cx="1755648" cy="384048"/>
          </a:xfrm>
          <a:prstGeom prst="roundRect">
            <a:avLst>
              <a:gd name="adj" fmla="val 50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動手操作 50%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416052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回饋單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25312" y="4160520"/>
            <a:ext cx="1572768" cy="384048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出席與核銷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62672" y="4160520"/>
            <a:ext cx="1540764" cy="384048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10:35-12:00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074920"/>
            <a:ext cx="3840480" cy="12700"/>
          </a:xfrm>
          <a:prstGeom prst="roundRect">
            <a:avLst/>
          </a:prstGeom>
          <a:solidFill>
            <a:srgbClr val="2A44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525780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800" b="1" i="0">
                <a:solidFill>
                  <a:srgbClr val="FFFFFF"/>
                </a:solidFill>
                <a:latin typeface="Microsoft JhengHei"/>
                <a:ea typeface="Microsoft JhengHei"/>
              </a:rPr>
              <a:t>游豐兆</a:t>
            </a:r>
            <a:r>
              <a:rPr lang="zh-TW" sz="1400" b="0" i="0">
                <a:solidFill>
                  <a:srgbClr val="9FB4CC"/>
                </a:solidFill>
                <a:latin typeface="Microsoft JhengHei"/>
                <a:ea typeface="Microsoft JhengHei"/>
              </a:rPr>
              <a:t>　國立東華大學自然資源與環境學系 博士生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300" b="0" i="0">
                <a:solidFill>
                  <a:srgbClr val="9FB4CC"/>
                </a:solidFill>
                <a:latin typeface="Microsoft JhengHei"/>
                <a:ea typeface="Microsoft JhengHei"/>
              </a:rPr>
              <a:t>2026/08/19（三）　東華大學環境學院 A124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1C7293"/>
                </a:solidFill>
                <a:latin typeface="Microsoft JhengHei"/>
                <a:ea typeface="Microsoft JhengHei"/>
              </a:rPr>
              <a:t>01 /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3000" b="1" i="0">
                <a:solidFill>
                  <a:srgbClr val="1E293B"/>
                </a:solidFill>
                <a:latin typeface="Microsoft JhengHei"/>
                <a:ea typeface="Microsoft JhengHei"/>
              </a:rPr>
              <a:t>下課時，你的隨身碟裡會有這五樣東西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1">
                <a:solidFill>
                  <a:srgbClr val="64748B"/>
                </a:solidFill>
                <a:latin typeface="Microsoft JhengHei"/>
                <a:ea typeface="Microsoft JhengHei"/>
              </a:rPr>
              <a:t>今天的目標，一開始就說清楚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1083564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1901952"/>
            <a:ext cx="512064" cy="51206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883664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1E293B"/>
                </a:solidFill>
                <a:latin typeface="Microsoft JhengHei"/>
                <a:ea typeface="Microsoft JhengHei"/>
              </a:rPr>
              <a:t>一套能跑的管理系統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883664"/>
            <a:ext cx="55778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已預填你們學校校名的版本，貼上名單就能用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60904"/>
            <a:ext cx="1083564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14400" y="2779776"/>
            <a:ext cx="512064" cy="5120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761488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1E293B"/>
                </a:solidFill>
                <a:latin typeface="Microsoft JhengHei"/>
                <a:ea typeface="Microsoft JhengHei"/>
              </a:rPr>
              <a:t>一份自己做的回饋單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761488"/>
            <a:ext cx="55778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用 AI 從零生出來、對齊官方四個百分比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538728"/>
            <a:ext cx="1083564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14400" y="3657600"/>
            <a:ext cx="512064" cy="512064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639312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1E293B"/>
                </a:solidFill>
                <a:latin typeface="Microsoft JhengHei"/>
                <a:ea typeface="Microsoft JhengHei"/>
              </a:rPr>
              <a:t>出席＋材料費對帳表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3639312"/>
            <a:ext cx="55778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第一週上課就能點名、當場算出材料費份數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416552"/>
            <a:ext cx="1083564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14400" y="4535424"/>
            <a:ext cx="512064" cy="512064"/>
          </a:xfrm>
          <a:prstGeom prst="ellipse">
            <a:avLst/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517136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1E293B"/>
                </a:solidFill>
                <a:latin typeface="Microsoft JhengHei"/>
                <a:ea typeface="Microsoft JhengHei"/>
              </a:rPr>
              <a:t>一份你們學校還缺的表單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4517136"/>
            <a:ext cx="55778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觀課紀錄表、專家聯絡單⋯⋯自己挑、AI 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294376"/>
            <a:ext cx="1083564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14400" y="5413248"/>
            <a:ext cx="512064" cy="512064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394960"/>
            <a:ext cx="39319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1E293B"/>
                </a:solidFill>
                <a:latin typeface="Microsoft JhengHei"/>
                <a:ea typeface="Microsoft JhengHei"/>
              </a:rPr>
              <a:t>一套做文件的方法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5394960"/>
            <a:ext cx="55778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領隊→隊員→檢查員，回去可以無限複製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6190488"/>
            <a:ext cx="10835640" cy="68580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" y="6327648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FFFFFF"/>
                </a:solidFill>
                <a:latin typeface="Microsoft JhengHei"/>
                <a:ea typeface="Microsoft JhengHei"/>
              </a:rPr>
              <a:t>第五樣最值錢：方法帶回去，之後每一份文件都是同一招。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1C7293"/>
                </a:solidFill>
                <a:latin typeface="Microsoft JhengHei"/>
                <a:ea typeface="Microsoft JhengHei"/>
              </a:rPr>
              <a:t>02 /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3000" b="1" i="0">
                <a:solidFill>
                  <a:srgbClr val="1E293B"/>
                </a:solidFill>
                <a:latin typeface="Microsoft JhengHei"/>
                <a:ea typeface="Microsoft JhengHei"/>
              </a:rPr>
              <a:t>85 分鐘路線圖：三輪「看我做、換你做」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1">
                <a:solidFill>
                  <a:srgbClr val="64748B"/>
                </a:solidFill>
                <a:latin typeface="Microsoft JhengHei"/>
                <a:ea typeface="Microsoft JhengHei"/>
              </a:rPr>
              <a:t>白底是我講，黃底是你動手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1083564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65376"/>
            <a:ext cx="10058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065A82"/>
                </a:solidFill>
                <a:latin typeface="Microsoft JhengHei"/>
                <a:ea typeface="Microsoft JhengHei"/>
              </a:rPr>
              <a:t>10:35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65960" y="1874520"/>
            <a:ext cx="1371600" cy="384048"/>
          </a:xfrm>
          <a:prstGeom prst="roundRect">
            <a:avLst>
              <a:gd name="adj" fmla="val 4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看我做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865376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系統 5 分鐘導覽＋兩個 AI 怎麼分工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41448"/>
            <a:ext cx="10835640" cy="566928"/>
          </a:xfrm>
          <a:prstGeom prst="roundRect">
            <a:avLst>
              <a:gd name="adj" fmla="val 10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523744"/>
            <a:ext cx="10058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C99A3E"/>
                </a:solidFill>
                <a:latin typeface="Microsoft JhengHei"/>
                <a:ea typeface="Microsoft JhengHei"/>
              </a:rPr>
              <a:t>10:48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65960" y="2532888"/>
            <a:ext cx="1371600" cy="384048"/>
          </a:xfrm>
          <a:prstGeom prst="roundRect">
            <a:avLst>
              <a:gd name="adj" fmla="val 40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換你做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523744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動手一：從零生出你學校的回饋單（隨做隨存）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099816"/>
            <a:ext cx="1083564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182112"/>
            <a:ext cx="10058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065A82"/>
                </a:solidFill>
                <a:latin typeface="Microsoft JhengHei"/>
                <a:ea typeface="Microsoft JhengHei"/>
              </a:rPr>
              <a:t>11:09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65960" y="3191256"/>
            <a:ext cx="1371600" cy="384048"/>
          </a:xfrm>
          <a:prstGeom prst="roundRect">
            <a:avLst>
              <a:gd name="adj" fmla="val 4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看我做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182112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教室日誌＝核銷憑據＋三個地雷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58184"/>
            <a:ext cx="10835640" cy="566928"/>
          </a:xfrm>
          <a:prstGeom prst="roundRect">
            <a:avLst>
              <a:gd name="adj" fmla="val 10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840480"/>
            <a:ext cx="10058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C99A3E"/>
                </a:solidFill>
                <a:latin typeface="Microsoft JhengHei"/>
                <a:ea typeface="Microsoft JhengHei"/>
              </a:rPr>
              <a:t>11:15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65960" y="3849624"/>
            <a:ext cx="1371600" cy="384048"/>
          </a:xfrm>
          <a:prstGeom prst="roundRect">
            <a:avLst>
              <a:gd name="adj" fmla="val 40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換你做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384048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動手二：名單入系統＋做一份你缺的表單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416552"/>
            <a:ext cx="1083564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498848"/>
            <a:ext cx="10058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065A82"/>
                </a:solidFill>
                <a:latin typeface="Microsoft JhengHei"/>
                <a:ea typeface="Microsoft JhengHei"/>
              </a:rPr>
              <a:t>11:39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4507992"/>
            <a:ext cx="1371600" cy="384048"/>
          </a:xfrm>
          <a:prstGeom prst="roundRect">
            <a:avLst>
              <a:gd name="adj" fmla="val 4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看我做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4498848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成果報告書怎麼組裝＋挑照片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074920"/>
            <a:ext cx="10835640" cy="566928"/>
          </a:xfrm>
          <a:prstGeom prst="roundRect">
            <a:avLst>
              <a:gd name="adj" fmla="val 10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5157216"/>
            <a:ext cx="10058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C99A3E"/>
                </a:solidFill>
                <a:latin typeface="Microsoft JhengHei"/>
                <a:ea typeface="Microsoft JhengHei"/>
              </a:rPr>
              <a:t>11:47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65960" y="5166360"/>
            <a:ext cx="1371600" cy="384048"/>
          </a:xfrm>
          <a:prstGeom prst="roundRect">
            <a:avLst>
              <a:gd name="adj" fmla="val 40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換你做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5157216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動手三：檢查員驗收＋ 11:50 統一收兩件作品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733288"/>
            <a:ext cx="1083564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5815584"/>
            <a:ext cx="10058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0B1F3A"/>
                </a:solidFill>
                <a:latin typeface="Microsoft JhengHei"/>
                <a:ea typeface="Microsoft JhengHei"/>
              </a:rPr>
              <a:t>11:55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965960" y="5824728"/>
            <a:ext cx="1371600" cy="384048"/>
          </a:xfrm>
          <a:prstGeom prst="roundRect">
            <a:avLst>
              <a:gd name="adj" fmla="val 40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收尾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1880" y="5815584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帶得走的東西＋回去第一週做什麼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1C7293"/>
                </a:solidFill>
                <a:latin typeface="Microsoft JhengHei"/>
                <a:ea typeface="Microsoft JhengHei"/>
              </a:rPr>
              <a:t>03 /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3000" b="1" i="0">
                <a:solidFill>
                  <a:srgbClr val="1E293B"/>
                </a:solidFill>
                <a:latin typeface="Microsoft JhengHei"/>
                <a:ea typeface="Microsoft JhengHei"/>
              </a:rPr>
              <a:t>你想要的，和報告要交的，是同一件事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1">
                <a:solidFill>
                  <a:srgbClr val="64748B"/>
                </a:solidFill>
                <a:latin typeface="Microsoft JhengHei"/>
                <a:ea typeface="Microsoft JhengHei"/>
              </a:rPr>
              <a:t>官方成果報告書「肆・效益達成情形」＝七個百分比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521208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700" b="1" i="0">
                <a:solidFill>
                  <a:srgbClr val="065A82"/>
                </a:solidFill>
                <a:latin typeface="Microsoft JhengHei"/>
                <a:ea typeface="Microsoft JhengHei"/>
              </a:rPr>
              <a:t>七個百分比，從哪裡來？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146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1C7293"/>
                </a:solidFill>
                <a:latin typeface="Microsoft JhengHei"/>
                <a:ea typeface="Microsoft JhengHei"/>
              </a:rPr>
              <a:t>① </a:t>
            </a:r>
            <a:r>
              <a:rPr lang="zh-TW" sz="1500" b="1" i="0">
                <a:solidFill>
                  <a:srgbClr val="1E293B"/>
                </a:solidFill>
                <a:latin typeface="Microsoft JhengHei"/>
                <a:ea typeface="Microsoft JhengHei"/>
              </a:rPr>
              <a:t>興趣提升</a:t>
            </a:r>
            <a:r>
              <a:rPr lang="zh-TW" sz="1300" b="0" i="0">
                <a:solidFill>
                  <a:srgbClr val="64748B"/>
                </a:solidFill>
                <a:latin typeface="Microsoft JhengHei"/>
                <a:ea typeface="Microsoft JhengHei"/>
              </a:rPr>
              <a:t>　← 回饋單 第 1 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71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1C7293"/>
                </a:solidFill>
                <a:latin typeface="Microsoft JhengHei"/>
                <a:ea typeface="Microsoft JhengHei"/>
              </a:rPr>
              <a:t>② </a:t>
            </a:r>
            <a:r>
              <a:rPr lang="zh-TW" sz="1500" b="1" i="0">
                <a:solidFill>
                  <a:srgbClr val="1E293B"/>
                </a:solidFill>
                <a:latin typeface="Microsoft JhengHei"/>
                <a:ea typeface="Microsoft JhengHei"/>
              </a:rPr>
              <a:t>專心參與</a:t>
            </a:r>
            <a:r>
              <a:rPr lang="zh-TW" sz="1300" b="0" i="0">
                <a:solidFill>
                  <a:srgbClr val="64748B"/>
                </a:solidFill>
                <a:latin typeface="Microsoft JhengHei"/>
                <a:ea typeface="Microsoft JhengHei"/>
              </a:rPr>
              <a:t>　← 回饋單 第 2 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4290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1C7293"/>
                </a:solidFill>
                <a:latin typeface="Microsoft JhengHei"/>
                <a:ea typeface="Microsoft JhengHei"/>
              </a:rPr>
              <a:t>③ </a:t>
            </a:r>
            <a:r>
              <a:rPr lang="zh-TW" sz="1500" b="1" i="0">
                <a:solidFill>
                  <a:srgbClr val="1E293B"/>
                </a:solidFill>
                <a:latin typeface="Microsoft JhengHei"/>
                <a:ea typeface="Microsoft JhengHei"/>
              </a:rPr>
              <a:t>獨立操作</a:t>
            </a:r>
            <a:r>
              <a:rPr lang="zh-TW" sz="1300" b="0" i="0">
                <a:solidFill>
                  <a:srgbClr val="64748B"/>
                </a:solidFill>
                <a:latin typeface="Microsoft JhengHei"/>
                <a:ea typeface="Microsoft JhengHei"/>
              </a:rPr>
              <a:t>　← 回饋單 第 3 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8862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1C7293"/>
                </a:solidFill>
                <a:latin typeface="Microsoft JhengHei"/>
                <a:ea typeface="Microsoft JhengHei"/>
              </a:rPr>
              <a:t>④ </a:t>
            </a:r>
            <a:r>
              <a:rPr lang="zh-TW" sz="1500" b="1" i="0">
                <a:solidFill>
                  <a:srgbClr val="1E293B"/>
                </a:solidFill>
                <a:latin typeface="Microsoft JhengHei"/>
                <a:ea typeface="Microsoft JhengHei"/>
              </a:rPr>
              <a:t>能說明實驗</a:t>
            </a:r>
            <a:r>
              <a:rPr lang="zh-TW" sz="1300" b="0" i="0">
                <a:solidFill>
                  <a:srgbClr val="64748B"/>
                </a:solidFill>
                <a:latin typeface="Microsoft JhengHei"/>
                <a:ea typeface="Microsoft JhengHei"/>
              </a:rPr>
              <a:t>　← 回饋單 第 4 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3434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1C7293"/>
                </a:solidFill>
                <a:latin typeface="Microsoft JhengHei"/>
                <a:ea typeface="Microsoft JhengHei"/>
              </a:rPr>
              <a:t>⑤ </a:t>
            </a:r>
            <a:r>
              <a:rPr lang="zh-TW" sz="1500" b="1" i="0">
                <a:solidFill>
                  <a:srgbClr val="1E293B"/>
                </a:solidFill>
                <a:latin typeface="Microsoft JhengHei"/>
                <a:ea typeface="Microsoft JhengHei"/>
              </a:rPr>
              <a:t>整體出席率</a:t>
            </a:r>
            <a:r>
              <a:rPr lang="zh-TW" sz="1300" b="0" i="0">
                <a:solidFill>
                  <a:srgbClr val="64748B"/>
                </a:solidFill>
                <a:latin typeface="Microsoft JhengHei"/>
                <a:ea typeface="Microsoft JhengHei"/>
              </a:rPr>
              <a:t>　← 教室日誌（出席表）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8006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1C7293"/>
                </a:solidFill>
                <a:latin typeface="Microsoft JhengHei"/>
                <a:ea typeface="Microsoft JhengHei"/>
              </a:rPr>
              <a:t>⑥⑦ </a:t>
            </a:r>
            <a:r>
              <a:rPr lang="zh-TW" sz="1500" b="1" i="0">
                <a:solidFill>
                  <a:srgbClr val="1E293B"/>
                </a:solidFill>
                <a:latin typeface="Microsoft JhengHei"/>
                <a:ea typeface="Microsoft JhengHei"/>
              </a:rPr>
              <a:t>延伸應用・專業增能</a:t>
            </a:r>
            <a:r>
              <a:rPr lang="zh-TW" sz="1300" b="0" i="0">
                <a:solidFill>
                  <a:srgbClr val="64748B"/>
                </a:solidFill>
                <a:latin typeface="Microsoft JhengHei"/>
                <a:ea typeface="Microsoft JhengHei"/>
              </a:rPr>
              <a:t>　← 老師自評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330952"/>
            <a:ext cx="4663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B43B3B"/>
                </a:solidFill>
                <a:latin typeface="Microsoft JhengHei"/>
                <a:ea typeface="Microsoft JhengHei"/>
              </a:rPr>
              <a:t>①-④ 只能從回饋單算出來——期末補不回來。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828800"/>
            <a:ext cx="5257800" cy="416052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60" y="205740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700" b="1" i="0">
                <a:solidFill>
                  <a:srgbClr val="C99A3E"/>
                </a:solidFill>
                <a:latin typeface="Microsoft JhengHei"/>
                <a:ea typeface="Microsoft JhengHei"/>
              </a:rPr>
              <a:t>所以今天的順序是這樣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606040"/>
            <a:ext cx="470916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500" b="0" i="0">
                <a:solidFill>
                  <a:srgbClr val="1E293B"/>
                </a:solidFill>
                <a:latin typeface="Microsoft JhengHei"/>
                <a:ea typeface="Microsoft JhengHei"/>
              </a:rPr>
              <a:t>先做回饋單（動手一）：它是四個百分比唯一的來源，學期初就要準備好，期末發下去、當場收回。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endParaRPr lang="zh-TW" sz="1500" b="0" i="0">
              <a:solidFill>
                <a:srgbClr val="1E293B"/>
              </a:solidFill>
              <a:latin typeface="Microsoft JhengHei"/>
              <a:ea typeface="Microsoft JhengHei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500" b="0" i="0">
                <a:solidFill>
                  <a:srgbClr val="1E293B"/>
                </a:solidFill>
                <a:latin typeface="Microsoft JhengHei"/>
                <a:ea typeface="Microsoft JhengHei"/>
              </a:rPr>
              <a:t>再做名單與出席（動手二）：教室日誌是出席率和材料費核銷的憑據。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endParaRPr lang="zh-TW" sz="1500" b="0" i="0">
              <a:solidFill>
                <a:srgbClr val="1E293B"/>
              </a:solidFill>
              <a:latin typeface="Microsoft JhengHei"/>
              <a:ea typeface="Microsoft JhengHei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500" b="0" i="0">
                <a:solidFill>
                  <a:srgbClr val="1E293B"/>
                </a:solidFill>
                <a:latin typeface="Microsoft JhengHei"/>
                <a:ea typeface="Microsoft JhengHei"/>
              </a:rPr>
              <a:t>最後學組裝與驗收（動手三）：期末報告就是把平常累積的東西疊起來而已。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1C7293"/>
                </a:solidFill>
                <a:latin typeface="Microsoft JhengHei"/>
                <a:ea typeface="Microsoft JhengHei"/>
              </a:rPr>
              <a:t>04 /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3000" b="1" i="0">
                <a:solidFill>
                  <a:srgbClr val="1E293B"/>
                </a:solidFill>
                <a:latin typeface="Microsoft JhengHei"/>
                <a:ea typeface="Microsoft JhengHei"/>
              </a:rPr>
              <a:t>六個分頁看完：你們今天要做出來的東西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1">
                <a:solidFill>
                  <a:srgbClr val="64748B"/>
                </a:solidFill>
                <a:latin typeface="Microsoft JhengHei"/>
                <a:ea typeface="Microsoft JhengHei"/>
              </a:rPr>
              <a:t>仰望科學社團管理系統・已測試範本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14255" y="347472"/>
            <a:ext cx="1874519" cy="475488"/>
          </a:xfrm>
          <a:prstGeom prst="roundRect">
            <a:avLst>
              <a:gd name="adj" fmla="val 4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現場示範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08356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14400" y="1792224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78308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1E293B"/>
                </a:solidFill>
                <a:latin typeface="Microsoft JhengHei"/>
                <a:ea typeface="Microsoft JhengHei"/>
              </a:rPr>
              <a:t>總覽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1783080"/>
            <a:ext cx="7406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300" b="0" i="0">
                <a:solidFill>
                  <a:srgbClr val="1E293B"/>
                </a:solidFill>
                <a:latin typeface="Microsoft JhengHei"/>
                <a:ea typeface="Microsoft JhengHei"/>
              </a:rPr>
              <a:t>七個百分比儀表板＋12 項結案文件追蹤＋列印成果報告書素材頁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23160"/>
            <a:ext cx="108356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14400" y="2478024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46888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1E293B"/>
                </a:solidFill>
                <a:latin typeface="Microsoft JhengHei"/>
                <a:ea typeface="Microsoft JhengHei"/>
              </a:rPr>
              <a:t>學生名單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2468880"/>
            <a:ext cx="7406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300" b="0" i="0">
                <a:solidFill>
                  <a:srgbClr val="1E293B"/>
                </a:solidFill>
                <a:latin typeface="Microsoft JhengHei"/>
                <a:ea typeface="Microsoft JhengHei"/>
              </a:rPr>
              <a:t>從 Excel 整批貼上匯入（標題列自動略過）；可列印附件一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08960"/>
            <a:ext cx="108356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14400" y="3163824"/>
            <a:ext cx="457200" cy="457200"/>
          </a:xfrm>
          <a:prstGeom prst="ellipse">
            <a:avLst/>
          </a:prstGeom>
          <a:solidFill>
            <a:srgbClr val="5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315468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1E293B"/>
                </a:solidFill>
                <a:latin typeface="Microsoft JhengHei"/>
                <a:ea typeface="Microsoft JhengHei"/>
              </a:rPr>
              <a:t>課程規劃表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3154680"/>
            <a:ext cx="7406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300" b="0" i="0">
                <a:solidFill>
                  <a:srgbClr val="1E293B"/>
                </a:solidFill>
                <a:latin typeface="Microsoft JhengHei"/>
                <a:ea typeface="Microsoft JhengHei"/>
              </a:rPr>
              <a:t>總週數可調（28／19 週都行）＋時數欄；列印規劃表與時數表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794760"/>
            <a:ext cx="108356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14400" y="3849624"/>
            <a:ext cx="457200" cy="45720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384048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1E293B"/>
                </a:solidFill>
                <a:latin typeface="Microsoft JhengHei"/>
                <a:ea typeface="Microsoft JhengHei"/>
              </a:rPr>
              <a:t>教室日誌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39" y="3840480"/>
            <a:ext cx="7406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300" b="0" i="0">
                <a:solidFill>
                  <a:srgbClr val="1E293B"/>
                </a:solidFill>
                <a:latin typeface="Microsoft JhengHei"/>
                <a:ea typeface="Microsoft JhengHei"/>
              </a:rPr>
              <a:t>進去就預設全到，改掉沒來的；出席＋授課教師＝材料費；本週課程紀錄（參）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480560"/>
            <a:ext cx="108356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14400" y="4535424"/>
            <a:ext cx="457200" cy="457200"/>
          </a:xfrm>
          <a:prstGeom prst="ellipse">
            <a:avLst/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2768" y="452628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1E293B"/>
                </a:solidFill>
                <a:latin typeface="Microsoft JhengHei"/>
                <a:ea typeface="Microsoft JhengHei"/>
              </a:rPr>
              <a:t>學生回饋單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39" y="4526280"/>
            <a:ext cx="7406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300" b="0" i="0">
                <a:solidFill>
                  <a:srgbClr val="1E293B"/>
                </a:solidFill>
                <a:latin typeface="Microsoft JhengHei"/>
                <a:ea typeface="Microsoft JhengHei"/>
              </a:rPr>
              <a:t>列印空白單；回收填人數自動算 %＋勾稽；第 5 題彙整框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166360"/>
            <a:ext cx="1083564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14400" y="522122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72768" y="521208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1E293B"/>
                </a:solidFill>
                <a:latin typeface="Microsoft JhengHei"/>
                <a:ea typeface="Microsoft JhengHei"/>
              </a:rPr>
              <a:t>經費核銷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39" y="5212080"/>
            <a:ext cx="7406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300" b="0" i="0">
                <a:solidFill>
                  <a:srgbClr val="1E293B"/>
                </a:solidFill>
                <a:latin typeface="Microsoft JhengHei"/>
                <a:ea typeface="Microsoft JhengHei"/>
              </a:rPr>
              <a:t>四類登記、上下期自動判別、材料費對帳（含整學期）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879592"/>
            <a:ext cx="10835640" cy="685800"/>
          </a:xfrm>
          <a:prstGeom prst="roundRect">
            <a:avLst>
              <a:gd name="adj" fmla="val 15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0120" y="6016752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0B1F3A"/>
                </a:solidFill>
                <a:latin typeface="Microsoft JhengHei"/>
                <a:ea typeface="Microsoft JhengHei"/>
              </a:rPr>
              <a:t>網址：rlirdo.github.io/yangwang-club-manager　單一 HTML・免安裝・免帳號・離線可用・資料存自己電腦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1C7293"/>
                </a:solidFill>
                <a:latin typeface="Microsoft JhengHei"/>
                <a:ea typeface="Microsoft JhengHei"/>
              </a:rPr>
              <a:t>05 / TEAMWORK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3000" b="1" i="0">
                <a:solidFill>
                  <a:srgbClr val="1E293B"/>
                </a:solidFill>
                <a:latin typeface="Microsoft JhengHei"/>
                <a:ea typeface="Microsoft JhengHei"/>
              </a:rPr>
              <a:t>兩個 AI 的分工：領隊、隊員、檢查員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1">
                <a:solidFill>
                  <a:srgbClr val="64748B"/>
                </a:solidFill>
                <a:latin typeface="Microsoft JhengHei"/>
                <a:ea typeface="Microsoft JhengHei"/>
              </a:rPr>
              <a:t>做事的和挑錯的，不能是同一個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5204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2057400"/>
            <a:ext cx="1463040" cy="457200"/>
          </a:xfrm>
          <a:prstGeom prst="roundRect">
            <a:avLst>
              <a:gd name="adj" fmla="val 4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領隊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1E293B"/>
                </a:solidFill>
                <a:latin typeface="Microsoft JhengHei"/>
                <a:ea typeface="Microsoft JhengHei"/>
              </a:rPr>
              <a:t>ChatGPT 桌面版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306324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想清楚要做什麼：欄位、格式、規則。產出一份「規格」（就是一段文字）。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8056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250" b="0" i="1">
                <a:solidFill>
                  <a:srgbClr val="64748B"/>
                </a:solidFill>
                <a:latin typeface="Microsoft JhengHei"/>
                <a:ea typeface="Microsoft JhengHei"/>
              </a:rPr>
              <a:t>✦ 工作輕，隨時可以問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224528" y="3246120"/>
            <a:ext cx="274320" cy="27432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26280" y="1828800"/>
            <a:ext cx="35204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754880" y="2057400"/>
            <a:ext cx="1463040" cy="457200"/>
          </a:xfrm>
          <a:prstGeom prst="roundRect">
            <a:avLst>
              <a:gd name="adj" fmla="val 4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隊員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69748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1E293B"/>
                </a:solidFill>
                <a:latin typeface="Microsoft JhengHei"/>
                <a:ea typeface="Microsoft JhengHei"/>
              </a:rPr>
              <a:t>Antigravity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154680"/>
            <a:ext cx="306324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照規格真的把檔案做出來。產出能打開、能用的 HTML 或表格。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48056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250" b="0" i="1">
                <a:solidFill>
                  <a:srgbClr val="64748B"/>
                </a:solidFill>
                <a:latin typeface="Microsoft JhengHei"/>
                <a:ea typeface="Microsoft JhengHei"/>
              </a:rPr>
              <a:t>✦ 工作重；免費額度一週一次，留到今天用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065008" y="3246120"/>
            <a:ext cx="274320" cy="27432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366760" y="1828800"/>
            <a:ext cx="35204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595360" y="2057400"/>
            <a:ext cx="1463040" cy="457200"/>
          </a:xfrm>
          <a:prstGeom prst="roundRect">
            <a:avLst>
              <a:gd name="adj" fmla="val 40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檢查員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69748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1E293B"/>
                </a:solidFill>
                <a:latin typeface="Microsoft JhengHei"/>
                <a:ea typeface="Microsoft JhengHei"/>
              </a:rPr>
              <a:t>ChatGPT 桌面版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154680"/>
            <a:ext cx="306324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對照官方要求挑錯：漏欄位？百分比算得出來？只列問題、不重做。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448056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250" b="0" i="1">
                <a:solidFill>
                  <a:srgbClr val="64748B"/>
                </a:solidFill>
                <a:latin typeface="Microsoft JhengHei"/>
                <a:ea typeface="Microsoft JhengHei"/>
              </a:rPr>
              <a:t>✦ 一定要做——AI 會說謊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486400"/>
            <a:ext cx="10835640" cy="68580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562356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FFFFFF"/>
                </a:solidFill>
                <a:latin typeface="Microsoft JhengHei"/>
                <a:ea typeface="Microsoft JhengHei"/>
              </a:rPr>
              <a:t>同一招做所有文件：領隊出規格 → 隊員做出來 → 檢查員驗收。今天練三次。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1C7293"/>
                </a:solidFill>
                <a:latin typeface="Microsoft JhengHei"/>
                <a:ea typeface="Microsoft JhengHei"/>
              </a:rPr>
              <a:t>06 / CAUTION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3000" b="1" i="0">
                <a:solidFill>
                  <a:srgbClr val="1E293B"/>
                </a:solidFill>
                <a:latin typeface="Microsoft JhengHei"/>
                <a:ea typeface="Microsoft JhengHei"/>
              </a:rPr>
              <a:t>動手之前，先看 AI 怎麼說謊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1">
                <a:solidFill>
                  <a:srgbClr val="64748B"/>
                </a:solidFill>
                <a:latin typeface="Microsoft JhengHei"/>
                <a:ea typeface="Microsoft JhengHei"/>
              </a:rPr>
              <a:t>兩個實測案例＋三句驗收口訣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521208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B43B3B"/>
                </a:solidFill>
                <a:latin typeface="Microsoft JhengHei"/>
                <a:ea typeface="Microsoft JhengHei"/>
              </a:rPr>
              <a:t>實測案例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14600"/>
            <a:ext cx="4663440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1E293B"/>
                </a:solidFill>
                <a:latin typeface="Microsoft JhengHei"/>
                <a:ea typeface="Microsoft JhengHei"/>
              </a:rPr>
              <a:t>案例一：</a:t>
            </a: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給它 11 張真照片＋真計畫書，它回報「全部完成！」——實際上根本沒讀資料夾，自己編了一個 micro:bit 澆水計畫，還生成 4 張假照片。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endParaRPr lang="zh-TW" sz="1400" b="0" i="0">
              <a:solidFill>
                <a:srgbClr val="1E293B"/>
              </a:solidFill>
              <a:latin typeface="Microsoft JhengHei"/>
              <a:ea typeface="Microsoft JhengHei"/>
            </a:endParaRP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1E293B"/>
                </a:solidFill>
                <a:latin typeface="Microsoft JhengHei"/>
                <a:ea typeface="Microsoft JhengHei"/>
              </a:rPr>
              <a:t>案例二：</a:t>
            </a: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老師只寫「購買的百合珠芽」六個字，它寫成「因儲藏不當受潮黑化發霉，成為課堂討論的突發教材」——憑空編出沒發生過的事故。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endParaRPr lang="zh-TW" sz="1400" b="0" i="0">
              <a:solidFill>
                <a:srgbClr val="1E293B"/>
              </a:solidFill>
              <a:latin typeface="Microsoft JhengHei"/>
              <a:ea typeface="Microsoft JhengHei"/>
            </a:endParaRP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lang="zh-TW" sz="1400" b="0" i="1">
                <a:solidFill>
                  <a:srgbClr val="64748B"/>
                </a:solidFill>
                <a:latin typeface="Microsoft JhengHei"/>
                <a:ea typeface="Microsoft JhengHei"/>
              </a:rPr>
              <a:t>而且做出來的網頁真的能開、能用——只是內容是假的。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25780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92240" y="2130552"/>
            <a:ext cx="566928" cy="56692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1993392"/>
            <a:ext cx="19202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700" b="1" i="0">
                <a:solidFill>
                  <a:srgbClr val="1E293B"/>
                </a:solidFill>
                <a:latin typeface="Microsoft JhengHei"/>
                <a:ea typeface="Microsoft JhengHei"/>
              </a:rPr>
              <a:t>對路徑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1993392"/>
            <a:ext cx="22402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檔案在哪？真的打得開嗎？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172968"/>
            <a:ext cx="525780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92240" y="3474720"/>
            <a:ext cx="566928" cy="56692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337560"/>
            <a:ext cx="19202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700" b="1" i="0">
                <a:solidFill>
                  <a:srgbClr val="1E293B"/>
                </a:solidFill>
                <a:latin typeface="Microsoft JhengHei"/>
                <a:ea typeface="Microsoft JhengHei"/>
              </a:rPr>
              <a:t>對數量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3337560"/>
            <a:ext cx="22402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我給 11 張照片，它處理了幾張？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517136"/>
            <a:ext cx="525780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92240" y="4818888"/>
            <a:ext cx="566928" cy="566928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681728"/>
            <a:ext cx="19202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700" b="1" i="0">
                <a:solidFill>
                  <a:srgbClr val="1E293B"/>
                </a:solidFill>
                <a:latin typeface="Microsoft JhengHei"/>
                <a:ea typeface="Microsoft JhengHei"/>
              </a:rPr>
              <a:t>抽查內容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4681728"/>
            <a:ext cx="22402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隨便挑一項，跟事實對嗎？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5907024"/>
            <a:ext cx="5257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1E293B"/>
                </a:solidFill>
                <a:latin typeface="Microsoft JhengHei"/>
                <a:ea typeface="Microsoft JhengHei"/>
              </a:rPr>
              <a:t>三個都過，才相信「完成」。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1C7293"/>
                </a:solidFill>
                <a:latin typeface="Microsoft JhengHei"/>
                <a:ea typeface="Microsoft JhengHei"/>
              </a:rPr>
              <a:t>07 / HANDS-ON 1 /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3000" b="1" i="0">
                <a:solidFill>
                  <a:srgbClr val="1E293B"/>
                </a:solidFill>
                <a:latin typeface="Microsoft JhengHei"/>
                <a:ea typeface="Microsoft JhengHei"/>
              </a:rPr>
              <a:t>動手一：從零生出你學校的回饋單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1">
                <a:solidFill>
                  <a:srgbClr val="64748B"/>
                </a:solidFill>
                <a:latin typeface="Microsoft JhengHei"/>
                <a:ea typeface="Microsoft JhengHei"/>
              </a:rPr>
              <a:t>第一步：把卡片①貼給 ChatGPT，請領隊出規格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14255" y="347472"/>
            <a:ext cx="1874519" cy="475488"/>
          </a:xfrm>
          <a:prstGeom prst="roundRect">
            <a:avLst>
              <a:gd name="adj" fmla="val 40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500" b="1">
                <a:solidFill>
                  <a:srgbClr val="0B1F3A"/>
                </a:solidFill>
                <a:latin typeface="Microsoft JhengHei"/>
              </a:rPr>
              <a:t>動手時間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676656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6766560" cy="475488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901952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FFFFFF"/>
                </a:solidFill>
                <a:latin typeface="Microsoft JhengHei"/>
                <a:ea typeface="Microsoft JhengHei"/>
              </a:rPr>
              <a:t>提示詞卡①　請領隊規劃（複製、改校名、貼給 ChatGPT）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50592"/>
            <a:ext cx="6309360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 dirty="0">
                <a:solidFill>
                  <a:srgbClr val="1E293B"/>
                </a:solidFill>
                <a:latin typeface="Microsoft JhengHei"/>
                <a:ea typeface="Microsoft JhengHei"/>
              </a:rPr>
              <a:t>我是「＿＿＿國小／國中」的老師，學校參加仰望教育基金會的「國中小科學社團扶助計畫」，社團主題是「＿＿＿＿」。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 dirty="0">
                <a:solidFill>
                  <a:srgbClr val="1E293B"/>
                </a:solidFill>
                <a:latin typeface="Microsoft JhengHei"/>
                <a:ea typeface="Microsoft JhengHei"/>
              </a:rPr>
              <a:t>我要設計一份給國小三到六年級學生的期末回饋單，期末要用它算出四個百分比：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 dirty="0">
                <a:solidFill>
                  <a:srgbClr val="1E293B"/>
                </a:solidFill>
                <a:latin typeface="Microsoft JhengHei"/>
                <a:ea typeface="Microsoft JhengHei"/>
              </a:rPr>
              <a:t>①對科學探索的興趣提升 ②上課專心能參與討論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 dirty="0">
                <a:solidFill>
                  <a:srgbClr val="1E293B"/>
                </a:solidFill>
                <a:latin typeface="Microsoft JhengHei"/>
                <a:ea typeface="Microsoft JhengHei"/>
              </a:rPr>
              <a:t>③能自己完成實驗操作 ④能向別人說明實驗在做什麼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 dirty="0">
                <a:solidFill>
                  <a:srgbClr val="1E293B"/>
                </a:solidFill>
                <a:latin typeface="Microsoft JhengHei"/>
                <a:ea typeface="Microsoft JhengHei"/>
              </a:rPr>
              <a:t>要求：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 dirty="0">
                <a:solidFill>
                  <a:srgbClr val="1E293B"/>
                </a:solidFill>
                <a:latin typeface="Microsoft JhengHei"/>
                <a:ea typeface="Microsoft JhengHei"/>
              </a:rPr>
              <a:t>・這次先只做「學生回饋單」這一張，其他表先不要做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 dirty="0">
                <a:solidFill>
                  <a:srgbClr val="1E293B"/>
                </a:solidFill>
                <a:latin typeface="Microsoft JhengHei"/>
                <a:ea typeface="Microsoft JhengHei"/>
              </a:rPr>
              <a:t>・四題選擇題一題對一個百分比，題目要讓國小三年級看得懂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 dirty="0">
                <a:solidFill>
                  <a:srgbClr val="1E293B"/>
                </a:solidFill>
                <a:latin typeface="Microsoft JhengHei"/>
                <a:ea typeface="Microsoft JhengHei"/>
              </a:rPr>
              <a:t>・選項用四點量表（很同意／同意／普通／不同意）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 dirty="0">
                <a:solidFill>
                  <a:srgbClr val="1E293B"/>
                </a:solidFill>
                <a:latin typeface="Microsoft JhengHei"/>
                <a:ea typeface="Microsoft JhengHei"/>
              </a:rPr>
              <a:t>・最後加一題開放題（最喜歡的一堂課），給結論與建議用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 dirty="0">
                <a:solidFill>
                  <a:srgbClr val="1E293B"/>
                </a:solidFill>
                <a:latin typeface="Microsoft JhengHei"/>
                <a:ea typeface="Microsoft JhengHei"/>
              </a:rPr>
              <a:t>請先只給我「題目設計＋計算方式」的規格說明，不要寫程式。用繁體中文。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1828800"/>
            <a:ext cx="379476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01000" y="20574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065A82"/>
                </a:solidFill>
                <a:latin typeface="Microsoft JhengHei"/>
                <a:ea typeface="Microsoft JhengHei"/>
              </a:rPr>
              <a:t>現在做這三件事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560320"/>
            <a:ext cx="329184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1. 打開 ChatGPT 桌面版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2. 開 rlirdo.github.io/yangwang-club-manager/prompts.html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　（或共用資料夾）按「複製」拿卡片①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3. 把底線處改成你們學校＋社團主題，送出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endParaRPr lang="zh-TW" sz="1400" b="0" i="0">
              <a:solidFill>
                <a:srgbClr val="1E293B"/>
              </a:solidFill>
              <a:latin typeface="Microsoft JhengHei"/>
              <a:ea typeface="Microsoft JhengHei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改一個字就是你的：科學社、天文社、環境調查社，寫什麼它就往那個方向設計題目。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1C7293"/>
                </a:solidFill>
                <a:latin typeface="Microsoft JhengHei"/>
                <a:ea typeface="Microsoft JhengHei"/>
              </a:rPr>
              <a:t>08 / HANDS-ON 1 /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3000" b="1" i="0">
                <a:solidFill>
                  <a:srgbClr val="1E293B"/>
                </a:solidFill>
                <a:latin typeface="Microsoft JhengHei"/>
                <a:ea typeface="Microsoft JhengHei"/>
              </a:rPr>
              <a:t>看看領隊給你的規格，像不像這樣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1">
                <a:solidFill>
                  <a:srgbClr val="64748B"/>
                </a:solidFill>
                <a:latin typeface="Microsoft JhengHei"/>
                <a:ea typeface="Microsoft JhengHei"/>
              </a:rPr>
              <a:t>確認方向，不滿意就叫它改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14255" y="347472"/>
            <a:ext cx="1874519" cy="475488"/>
          </a:xfrm>
          <a:prstGeom prst="roundRect">
            <a:avLst>
              <a:gd name="adj" fmla="val 40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500" b="1">
                <a:solidFill>
                  <a:srgbClr val="0B1F3A"/>
                </a:solidFill>
                <a:latin typeface="Microsoft JhengHei"/>
              </a:rPr>
              <a:t>動手時間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676656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065A82"/>
                </a:solidFill>
                <a:latin typeface="Microsoft JhengHei"/>
                <a:ea typeface="Microsoft JhengHei"/>
              </a:rPr>
              <a:t>規格應該包含這四塊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14600"/>
            <a:ext cx="6309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2E7D5B"/>
                </a:solidFill>
                <a:latin typeface="Microsoft JhengHei"/>
                <a:ea typeface="Microsoft JhengHei"/>
              </a:rPr>
              <a:t>□ </a:t>
            </a:r>
            <a:r>
              <a:rPr lang="zh-TW" sz="1500" b="1" i="0">
                <a:solidFill>
                  <a:srgbClr val="1E293B"/>
                </a:solidFill>
                <a:latin typeface="Microsoft JhengHei"/>
                <a:ea typeface="Microsoft JhengHei"/>
              </a:rPr>
              <a:t>題目　</a:t>
            </a: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四題選擇＋一題開放，用語適合國小三年級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081528"/>
            <a:ext cx="6309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2E7D5B"/>
                </a:solidFill>
                <a:latin typeface="Microsoft JhengHei"/>
                <a:ea typeface="Microsoft JhengHei"/>
              </a:rPr>
              <a:t>□ </a:t>
            </a:r>
            <a:r>
              <a:rPr lang="zh-TW" sz="1500" b="1" i="0">
                <a:solidFill>
                  <a:srgbClr val="1E293B"/>
                </a:solidFill>
                <a:latin typeface="Microsoft JhengHei"/>
                <a:ea typeface="Microsoft JhengHei"/>
              </a:rPr>
              <a:t>對應　</a:t>
            </a: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每一題後面標著對應官方 ①②③④ 哪一項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648456"/>
            <a:ext cx="6309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2E7D5B"/>
                </a:solidFill>
                <a:latin typeface="Microsoft JhengHei"/>
                <a:ea typeface="Microsoft JhengHei"/>
              </a:rPr>
              <a:t>□ </a:t>
            </a:r>
            <a:r>
              <a:rPr lang="zh-TW" sz="1500" b="1" i="0">
                <a:solidFill>
                  <a:srgbClr val="1E293B"/>
                </a:solidFill>
                <a:latin typeface="Microsoft JhengHei"/>
                <a:ea typeface="Microsoft JhengHei"/>
              </a:rPr>
              <a:t>量表　</a:t>
            </a: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很同意／同意／普通／不同意，四選一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215384"/>
            <a:ext cx="6309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2E7D5B"/>
                </a:solidFill>
                <a:latin typeface="Microsoft JhengHei"/>
                <a:ea typeface="Microsoft JhengHei"/>
              </a:rPr>
              <a:t>□ </a:t>
            </a:r>
            <a:r>
              <a:rPr lang="zh-TW" sz="1500" b="1" i="0">
                <a:solidFill>
                  <a:srgbClr val="1E293B"/>
                </a:solidFill>
                <a:latin typeface="Microsoft JhengHei"/>
                <a:ea typeface="Microsoft JhengHei"/>
              </a:rPr>
              <a:t>算法　</a:t>
            </a: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（很同意＋同意）人數 ÷ 回收份數（實際收回的份數，不是全班人數）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919472"/>
            <a:ext cx="63093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C99A3E"/>
                </a:solidFill>
                <a:latin typeface="Microsoft JhengHei"/>
                <a:ea typeface="Microsoft JhengHei"/>
              </a:rPr>
              <a:t>追問範例：</a:t>
            </a: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「第 3 題國小三年級看得懂嗎？請再簡化」「幫我把量表改成三個笑臉」「加一題問學生想學什麼」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1828800"/>
            <a:ext cx="3794760" cy="416052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01000" y="20574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C99A3E"/>
                </a:solidFill>
                <a:latin typeface="Microsoft JhengHei"/>
                <a:ea typeface="Microsoft JhengHei"/>
              </a:rPr>
              <a:t>這 5 分鐘你在練什麼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2560320"/>
            <a:ext cx="329184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跟 AI 來回修改，不是一次定案。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endParaRPr lang="zh-TW" sz="1400" b="0" i="0">
              <a:solidFill>
                <a:srgbClr val="1E293B"/>
              </a:solidFill>
              <a:latin typeface="Microsoft JhengHei"/>
              <a:ea typeface="Microsoft JhengHei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它是你的助理，不是你的長官——題目你最懂，孩子你最熟，改到你點頭為止。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endParaRPr lang="zh-TW" sz="1400" b="0" i="0">
              <a:solidFill>
                <a:srgbClr val="1E293B"/>
              </a:solidFill>
              <a:latin typeface="Microsoft JhengHei"/>
              <a:ea typeface="Microsoft JhengHei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滿意之後，跟它說：「請把最終版規格完整列出來」，等一下要整段複製給 Antigravity。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1C7293"/>
                </a:solidFill>
                <a:latin typeface="Microsoft JhengHei"/>
                <a:ea typeface="Microsoft JhengHei"/>
              </a:rPr>
              <a:t>09 / HANDS-ON 1 /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3000" b="1" i="0">
                <a:solidFill>
                  <a:srgbClr val="1E293B"/>
                </a:solidFill>
                <a:latin typeface="Microsoft JhengHei"/>
                <a:ea typeface="Microsoft JhengHei"/>
              </a:rPr>
              <a:t>把規格交給隊員：Antigravity 做出來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1">
                <a:solidFill>
                  <a:srgbClr val="64748B"/>
                </a:solidFill>
                <a:latin typeface="Microsoft JhengHei"/>
                <a:ea typeface="Microsoft JhengHei"/>
              </a:rPr>
              <a:t>卡片②＋你剛拿到的規格＝一份能印的回饋單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14255" y="347472"/>
            <a:ext cx="1874519" cy="475488"/>
          </a:xfrm>
          <a:prstGeom prst="roundRect">
            <a:avLst>
              <a:gd name="adj" fmla="val 40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500" b="1">
                <a:solidFill>
                  <a:srgbClr val="0B1F3A"/>
                </a:solidFill>
                <a:latin typeface="Microsoft JhengHei"/>
              </a:rPr>
              <a:t>動手時間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676656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6766560" cy="475488"/>
          </a:xfrm>
          <a:prstGeom prst="roundRect">
            <a:avLst>
              <a:gd name="adj" fmla="val 6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901952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FFFFFF"/>
                </a:solidFill>
                <a:latin typeface="Microsoft JhengHei"/>
                <a:ea typeface="Microsoft JhengHei"/>
              </a:rPr>
              <a:t>提示詞卡②　請隊員製作（貼給 Antigravity）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50592"/>
            <a:ext cx="6309360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請照下面這份規格，做出一份「學生回饋單」。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（把 ChatGPT 給你的最終版規格，整段貼在這裡）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endParaRPr lang="zh-TW" sz="1350" b="0" i="0">
              <a:solidFill>
                <a:srgbClr val="1E293B"/>
              </a:solidFill>
              <a:latin typeface="Microsoft JhengHei"/>
              <a:ea typeface="Microsoft JhengHei"/>
            </a:endParaRP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要求：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・做成一個 HTML 檔案，瀏覽器點兩下就能開，不用安裝任何東西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・版面是 A4 直式、適合列印發給學生的紙本問卷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・字體大、選項框好勾，適合國小學生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・最上面留班級、座號欄位（不用寫姓名也可以）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・介面用繁體中文、台灣用語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請把檔案存到我現在開著的這個資料夾的根目錄。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做完告訴我檔案存在哪裡、怎麼打開。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1828800"/>
            <a:ext cx="379476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01000" y="20574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065A82"/>
                </a:solidFill>
                <a:latin typeface="Microsoft JhengHei"/>
                <a:ea typeface="Microsoft JhengHei"/>
              </a:rPr>
              <a:t>等它跑的 2 分鐘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560320"/>
            <a:ext cx="3291840" cy="3246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它最後會說「檔案存在哪裡」——那一行字最重要，先抄下來。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endParaRPr lang="zh-TW" sz="1400" b="0" i="0">
              <a:solidFill>
                <a:srgbClr val="1E293B"/>
              </a:solidFill>
              <a:latin typeface="Microsoft JhengHei"/>
              <a:ea typeface="Microsoft JhengHei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找不到檔案不等於失敗，通常是它存到自己的暫存資料夾。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endParaRPr lang="zh-TW" sz="1400" b="0" i="0">
              <a:solidFill>
                <a:srgbClr val="1E293B"/>
              </a:solidFill>
              <a:latin typeface="Microsoft JhengHei"/>
              <a:ea typeface="Microsoft JhengHei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做完立刻跑驗收口訣：對路徑（打得開嗎）、對數量（四題都在嗎）、抽查內容（題目跟規格一樣嗎）。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1C7293"/>
                </a:solidFill>
                <a:latin typeface="Microsoft JhengHei"/>
                <a:ea typeface="Microsoft JhengHei"/>
              </a:rPr>
              <a:t>10 / 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3000" b="1" i="0">
                <a:solidFill>
                  <a:srgbClr val="1E293B"/>
                </a:solidFill>
                <a:latin typeface="Microsoft JhengHei"/>
                <a:ea typeface="Microsoft JhengHei"/>
              </a:rPr>
              <a:t>檢查點：第一件作品存好了嗎？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1">
                <a:solidFill>
                  <a:srgbClr val="64748B"/>
                </a:solidFill>
                <a:latin typeface="Microsoft JhengHei"/>
                <a:ea typeface="Microsoft JhengHei"/>
              </a:rPr>
              <a:t>隨做隨存；兩件作品 11:50 統一收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" y="2148839"/>
            <a:ext cx="603504" cy="60350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240279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700" b="1" i="0">
                <a:solidFill>
                  <a:srgbClr val="1E293B"/>
                </a:solidFill>
                <a:latin typeface="Microsoft JhengHei"/>
                <a:ea typeface="Microsoft JhengHei"/>
              </a:rPr>
              <a:t>開得起來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26079"/>
            <a:ext cx="2971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雙擊 HTML，瀏覽器能正常顯示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800600" y="2148839"/>
            <a:ext cx="603504" cy="60350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2240279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700" b="1" i="0">
                <a:solidFill>
                  <a:srgbClr val="1E293B"/>
                </a:solidFill>
                <a:latin typeface="Microsoft JhengHei"/>
                <a:ea typeface="Microsoft JhengHei"/>
              </a:rPr>
              <a:t>改好檔名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926079"/>
            <a:ext cx="2971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「學校名＿回饋單.html」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874519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641080" y="2148839"/>
            <a:ext cx="603504" cy="603504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2240279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700" b="1" i="0">
                <a:solidFill>
                  <a:srgbClr val="1E293B"/>
                </a:solidFill>
                <a:latin typeface="Microsoft JhengHei"/>
                <a:ea typeface="Microsoft JhengHei"/>
              </a:rPr>
              <a:t>先放繳交區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2926079"/>
            <a:ext cx="2971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拖進桌面的「0819繳交」資料夾（11:50 統一收）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114800"/>
            <a:ext cx="10835640" cy="685800"/>
          </a:xfrm>
          <a:prstGeom prst="roundRect">
            <a:avLst>
              <a:gd name="adj" fmla="val 15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425196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0B1F3A"/>
                </a:solidFill>
                <a:latin typeface="Microsoft JhengHei"/>
                <a:ea typeface="Microsoft JhengHei"/>
              </a:rPr>
              <a:t>來不及的老師：先交範例檔也算過關——方法今天學會，成品回家補做得出來。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029200"/>
            <a:ext cx="1083564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5166360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065A82"/>
                </a:solidFill>
                <a:latin typeface="Microsoft JhengHei"/>
                <a:ea typeface="Microsoft JhengHei"/>
              </a:rPr>
              <a:t>下一輪預告：</a:t>
            </a:r>
            <a:r>
              <a:rPr lang="zh-TW" sz="1500" b="0" i="0">
                <a:solidFill>
                  <a:srgbClr val="1E293B"/>
                </a:solidFill>
                <a:latin typeface="Microsoft JhengHei"/>
                <a:ea typeface="Microsoft JhengHei"/>
              </a:rPr>
              <a:t>回饋單解決了「四個百分比」。接下來解決第五個——出席率，還有讓出納不退件的核銷。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1C7293"/>
                </a:solidFill>
                <a:latin typeface="Microsoft JhengHei"/>
                <a:ea typeface="Microsoft JhengHei"/>
              </a:rPr>
              <a:t>11 /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3000" b="1" i="0">
                <a:solidFill>
                  <a:srgbClr val="1E293B"/>
                </a:solidFill>
                <a:latin typeface="Microsoft JhengHei"/>
                <a:ea typeface="Microsoft JhengHei"/>
              </a:rPr>
              <a:t>教室日誌不是形式，是核銷的憑據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1">
                <a:solidFill>
                  <a:srgbClr val="64748B"/>
                </a:solidFill>
                <a:latin typeface="Microsoft JhengHei"/>
                <a:ea typeface="Microsoft JhengHei"/>
              </a:rPr>
              <a:t>出席學生數＋實際授課教師人數＝材料費份數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14255" y="347472"/>
            <a:ext cx="1874519" cy="475488"/>
          </a:xfrm>
          <a:prstGeom prst="roundRect">
            <a:avLst>
              <a:gd name="adj" fmla="val 4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現場示範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603504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700" b="1" i="0">
                <a:solidFill>
                  <a:srgbClr val="065A82"/>
                </a:solidFill>
                <a:latin typeface="Microsoft JhengHei"/>
                <a:ea typeface="Microsoft JhengHei"/>
              </a:rPr>
              <a:t>基金會核銷實務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06040"/>
            <a:ext cx="5486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700" b="0" i="0">
                <a:solidFill>
                  <a:srgbClr val="1E293B"/>
                </a:solidFill>
                <a:latin typeface="Microsoft JhengHei"/>
                <a:ea typeface="Microsoft JhengHei"/>
              </a:rPr>
              <a:t>材料費的份數，要和教室日誌上的「出席學生數＋實際授課教師人數」相符。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64748B"/>
                </a:solidFill>
                <a:latin typeface="Microsoft JhengHei"/>
                <a:ea typeface="Microsoft JhengHei"/>
              </a:rPr>
              <a:t>核算公式：（上課人數＋實際授課教師人數）× 主題 × 250 元。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886200"/>
            <a:ext cx="5486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500" b="0" i="0">
                <a:solidFill>
                  <a:srgbClr val="64748B"/>
                </a:solidFill>
                <a:latin typeface="Microsoft JhengHei"/>
                <a:ea typeface="Microsoft JhengHei"/>
              </a:rPr>
              <a:t>出席表寫 12 人、材料費收據開 15 份 → 對不起來，退件。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endParaRPr lang="zh-TW" sz="1500" b="0" i="0">
              <a:solidFill>
                <a:srgbClr val="64748B"/>
              </a:solidFill>
              <a:latin typeface="Microsoft JhengHei"/>
              <a:ea typeface="Microsoft JhengHei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500" b="0" i="0">
                <a:solidFill>
                  <a:srgbClr val="64748B"/>
                </a:solidFill>
                <a:latin typeface="Microsoft JhengHei"/>
                <a:ea typeface="Microsoft JhengHei"/>
              </a:rPr>
              <a:t>每週點完名當場知道材料買幾份——一張表，出席與核銷一次解決。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34924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2E7D5B"/>
                </a:solidFill>
                <a:latin typeface="Microsoft JhengHei"/>
                <a:ea typeface="Microsoft JhengHei"/>
              </a:rPr>
              <a:t>操作口訣：先按「全到」，再改掉沒來的。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600" y="1828800"/>
            <a:ext cx="4434840" cy="416052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60920" y="2286000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lang="zh-TW" sz="2000" b="1" i="0">
                <a:solidFill>
                  <a:srgbClr val="FFFFFF"/>
                </a:solidFill>
                <a:latin typeface="Microsoft JhengHei"/>
                <a:ea typeface="Microsoft JhengHei"/>
              </a:rPr>
              <a:t>本週出席 12 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834640"/>
            <a:ext cx="3886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lang="zh-TW" sz="1900" b="1" i="0">
                <a:solidFill>
                  <a:srgbClr val="5FA98A"/>
                </a:solidFill>
                <a:latin typeface="Microsoft JhengHei"/>
                <a:ea typeface="Microsoft JhengHei"/>
              </a:rPr>
              <a:t>＋ 授課教師 2 位（實填人數）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3474720"/>
            <a:ext cx="3886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lang="zh-TW" sz="2400" b="1" i="0">
                <a:solidFill>
                  <a:srgbClr val="FFFFFF"/>
                </a:solidFill>
                <a:latin typeface="Microsoft JhengHei"/>
                <a:ea typeface="Microsoft JhengHei"/>
              </a:rPr>
              <a:t>＝ 材料費 </a:t>
            </a:r>
            <a:r>
              <a:rPr lang="zh-TW" sz="4400" b="1" i="0">
                <a:solidFill>
                  <a:srgbClr val="C99A3E"/>
                </a:solidFill>
                <a:latin typeface="Microsoft JhengHei"/>
                <a:ea typeface="Microsoft JhengHei"/>
              </a:rPr>
              <a:t>14</a:t>
            </a:r>
            <a:r>
              <a:rPr lang="zh-TW" sz="2400" b="1" i="0">
                <a:solidFill>
                  <a:srgbClr val="FFFFFF"/>
                </a:solidFill>
                <a:latin typeface="Microsoft JhengHei"/>
                <a:ea typeface="Microsoft JhengHei"/>
              </a:rPr>
              <a:t> 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029200"/>
            <a:ext cx="3886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9FB4CC"/>
                </a:solidFill>
                <a:latin typeface="Microsoft JhengHei"/>
                <a:ea typeface="Microsoft JhengHei"/>
              </a:rPr>
              <a:t>累計出席率自動算出 → 官方第 ⑤ 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1C7293"/>
                </a:solidFill>
                <a:latin typeface="Microsoft JhengHei"/>
                <a:ea typeface="Microsoft JhengHei"/>
              </a:rPr>
              <a:t>12 /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3000" b="1" i="0">
                <a:solidFill>
                  <a:srgbClr val="1E293B"/>
                </a:solidFill>
                <a:latin typeface="Microsoft JhengHei"/>
                <a:ea typeface="Microsoft JhengHei"/>
              </a:rPr>
              <a:t>三個核銷地雷，現在記下來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1">
                <a:solidFill>
                  <a:srgbClr val="64748B"/>
                </a:solidFill>
                <a:latin typeface="Microsoft JhengHei"/>
                <a:ea typeface="Microsoft JhengHei"/>
              </a:rPr>
              <a:t>踩到一個，出納就把單子退回來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52044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" y="2066544"/>
            <a:ext cx="530352" cy="530352"/>
          </a:xfrm>
          <a:prstGeom prst="ellipse">
            <a:avLst/>
          </a:prstGeom>
          <a:solidFill>
            <a:srgbClr val="B4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13055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50" b="1" i="0">
                <a:solidFill>
                  <a:srgbClr val="1E293B"/>
                </a:solidFill>
                <a:latin typeface="Microsoft JhengHei"/>
                <a:ea typeface="Microsoft JhengHei"/>
              </a:rPr>
              <a:t>上下期要分開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61488"/>
            <a:ext cx="29718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同一張請購單，2026 年 9-12 月和 2027 年 1-6 月要分開填。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931920"/>
            <a:ext cx="29718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350" b="1" i="0">
                <a:solidFill>
                  <a:srgbClr val="2E7D5B"/>
                </a:solidFill>
                <a:latin typeface="Microsoft JhengHei"/>
                <a:ea typeface="Microsoft JhengHei"/>
              </a:rPr>
              <a:t>✔ </a:t>
            </a:r>
            <a:r>
              <a:rPr lang="zh-TW" sz="1300" b="0" i="0">
                <a:solidFill>
                  <a:srgbClr val="64748B"/>
                </a:solidFill>
                <a:latin typeface="Microsoft JhengHei"/>
                <a:ea typeface="Microsoft JhengHei"/>
              </a:rPr>
              <a:t>跨期的單子直接拆成兩張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28800"/>
            <a:ext cx="352044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800600" y="2066544"/>
            <a:ext cx="530352" cy="530352"/>
          </a:xfrm>
          <a:prstGeom prst="ellipse">
            <a:avLst/>
          </a:prstGeom>
          <a:solidFill>
            <a:srgbClr val="B4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13055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50" b="1" i="0">
                <a:solidFill>
                  <a:srgbClr val="1E293B"/>
                </a:solidFill>
                <a:latin typeface="Microsoft JhengHei"/>
                <a:ea typeface="Microsoft JhengHei"/>
              </a:rPr>
              <a:t>鐘點費看上課日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761488"/>
            <a:ext cx="29718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鐘點費認列「實際上課日期」，不是請購日期。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3931920"/>
            <a:ext cx="29718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350" b="1" i="0">
                <a:solidFill>
                  <a:srgbClr val="2E7D5B"/>
                </a:solidFill>
                <a:latin typeface="Microsoft JhengHei"/>
                <a:ea typeface="Microsoft JhengHei"/>
              </a:rPr>
              <a:t>✔ </a:t>
            </a:r>
            <a:r>
              <a:rPr lang="zh-TW" sz="1300" b="0" i="0">
                <a:solidFill>
                  <a:srgbClr val="64748B"/>
                </a:solidFill>
                <a:latin typeface="Microsoft JhengHei"/>
                <a:ea typeface="Microsoft JhengHei"/>
              </a:rPr>
              <a:t>時數表日期＝教室日誌日期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1828800"/>
            <a:ext cx="352044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641080" y="2066544"/>
            <a:ext cx="530352" cy="530352"/>
          </a:xfrm>
          <a:prstGeom prst="ellipse">
            <a:avLst/>
          </a:prstGeom>
          <a:solidFill>
            <a:srgbClr val="B4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13055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50" b="1" i="0">
                <a:solidFill>
                  <a:srgbClr val="1E293B"/>
                </a:solidFill>
                <a:latin typeface="Microsoft JhengHei"/>
                <a:ea typeface="Microsoft JhengHei"/>
              </a:rPr>
              <a:t>材料費看發票日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2761488"/>
            <a:ext cx="29718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材料費認列「發票上的日期」，份數＝出席＋實際授課教師人數。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3931920"/>
            <a:ext cx="29718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350" b="1" i="0">
                <a:solidFill>
                  <a:srgbClr val="2E7D5B"/>
                </a:solidFill>
                <a:latin typeface="Microsoft JhengHei"/>
                <a:ea typeface="Microsoft JhengHei"/>
              </a:rPr>
              <a:t>✔ </a:t>
            </a:r>
            <a:r>
              <a:rPr lang="zh-TW" sz="1300" b="0" i="0">
                <a:solidFill>
                  <a:srgbClr val="64748B"/>
                </a:solidFill>
                <a:latin typeface="Microsoft JhengHei"/>
                <a:ea typeface="Microsoft JhengHei"/>
              </a:rPr>
              <a:t>收據份數先跟點名結果對過再送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709160"/>
            <a:ext cx="10835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lang="zh-TW" sz="1350" b="1" i="0">
                <a:solidFill>
                  <a:srgbClr val="B43B3B"/>
                </a:solidFill>
                <a:latin typeface="Microsoft JhengHei"/>
                <a:ea typeface="Microsoft JhengHei"/>
              </a:rPr>
              <a:t>第四顆地雷（紅線）：</a:t>
            </a: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身分證字號、戶籍住址、匯款帳號——這三樣不貼進任何 AI，也不放雲端，只在學校的紙本表上寫。AI 幫你算的是時數、份數、金額，不碰身分資料。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835640" cy="685800"/>
          </a:xfrm>
          <a:prstGeom prst="roundRect">
            <a:avLst>
              <a:gd name="adj" fmla="val 15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548640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0B1F3A"/>
                </a:solidFill>
                <a:latin typeface="Microsoft JhengHei"/>
                <a:ea typeface="Microsoft JhengHei"/>
              </a:rPr>
              <a:t>發票統編：材料費、餐費、茶水費開立 82339563 財團法人仰望教育基金會——系統核銷分頁印著這行與紅線。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1C7293"/>
                </a:solidFill>
                <a:latin typeface="Microsoft JhengHei"/>
                <a:ea typeface="Microsoft JhengHei"/>
              </a:rPr>
              <a:t>13 / HANDS-ON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3000" b="1" i="0">
                <a:solidFill>
                  <a:srgbClr val="1E293B"/>
                </a:solidFill>
                <a:latin typeface="Microsoft JhengHei"/>
                <a:ea typeface="Microsoft JhengHei"/>
              </a:rPr>
              <a:t>動手二：把你的學校裝進系統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1">
                <a:solidFill>
                  <a:srgbClr val="64748B"/>
                </a:solidFill>
                <a:latin typeface="Microsoft JhengHei"/>
                <a:ea typeface="Microsoft JhengHei"/>
              </a:rPr>
              <a:t>兩件事：名單進系統 ＋ 做一份你缺的表單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14255" y="347472"/>
            <a:ext cx="1874519" cy="475488"/>
          </a:xfrm>
          <a:prstGeom prst="roundRect">
            <a:avLst>
              <a:gd name="adj" fmla="val 40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500" b="1">
                <a:solidFill>
                  <a:srgbClr val="0B1F3A"/>
                </a:solidFill>
                <a:latin typeface="Microsoft JhengHei"/>
              </a:rPr>
              <a:t>動手時間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521208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05740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700" b="1" i="0">
                <a:solidFill>
                  <a:srgbClr val="1C7293"/>
                </a:solidFill>
                <a:latin typeface="Microsoft JhengHei"/>
                <a:ea typeface="Microsoft JhengHei"/>
              </a:rPr>
              <a:t>前半（約 10 分鐘）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06040"/>
            <a:ext cx="46634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1. 你的桌面已放好「0N-你們學校.html」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　（例：07-花蓮縣壽豐鄉豐山國民小學.html）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2. 雙擊打開→隨便點一下→右上角出現「已自動存檔」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3. 學生名單 → 貼上匯入 → 教室日誌點名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4. 備份分頁 → 匯出備份 → 存到隨身碟</a:t>
            </a:r>
          </a:p>
        </p:txBody>
      </p:sp>
      <p:pic>
        <p:nvPicPr>
          <p:cNvPr id="10" name="Picture 9" descr="qr_schoo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572000"/>
            <a:ext cx="1051560" cy="1051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48840" y="4709160"/>
            <a:ext cx="3383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lang="zh-TW" sz="1250" b="0" i="0">
                <a:solidFill>
                  <a:srgbClr val="64748B"/>
                </a:solidFill>
                <a:latin typeface="Microsoft JhengHei"/>
                <a:ea typeface="Microsoft JhengHei"/>
              </a:rPr>
              <a:t>桌面找不到檔案？手機或筆電掃這個，點你的學校（線上版，資料與桌面檔不互通）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28800"/>
            <a:ext cx="525780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205740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700" b="1" i="0">
                <a:solidFill>
                  <a:srgbClr val="C99A3E"/>
                </a:solidFill>
                <a:latin typeface="Microsoft JhengHei"/>
                <a:ea typeface="Microsoft JhengHei"/>
              </a:rPr>
              <a:t>後半（約 10 分鐘）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606040"/>
            <a:ext cx="470916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lang="zh-TW" sz="1450" b="0" i="0">
                <a:solidFill>
                  <a:srgbClr val="1E293B"/>
                </a:solidFill>
                <a:latin typeface="Microsoft JhengHei"/>
                <a:ea typeface="Microsoft JhengHei"/>
              </a:rPr>
              <a:t>從下一頁的清單挑一份你們學校「還缺的表單」，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lang="zh-TW" sz="1450" b="0" i="0">
                <a:solidFill>
                  <a:srgbClr val="1E293B"/>
                </a:solidFill>
                <a:latin typeface="Microsoft JhengHei"/>
                <a:ea typeface="Microsoft JhengHei"/>
              </a:rPr>
              <a:t>用同一招做出來：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endParaRPr lang="zh-TW" sz="1450" b="0" i="0">
              <a:solidFill>
                <a:srgbClr val="1E293B"/>
              </a:solidFill>
              <a:latin typeface="Microsoft JhengHei"/>
              <a:ea typeface="Microsoft JhengHei"/>
            </a:endParaRP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lang="zh-TW" sz="1450" b="0" i="0">
                <a:solidFill>
                  <a:srgbClr val="1E293B"/>
                </a:solidFill>
                <a:latin typeface="Microsoft JhengHei"/>
                <a:ea typeface="Microsoft JhengHei"/>
              </a:rPr>
              <a:t>ChatGPT 出規格 → Antigravity 做檔案 → 口訣驗收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endParaRPr lang="zh-TW" sz="1450" b="0" i="0">
              <a:solidFill>
                <a:srgbClr val="1E293B"/>
              </a:solidFill>
              <a:latin typeface="Microsoft JhengHei"/>
              <a:ea typeface="Microsoft JhengHei"/>
            </a:endParaRP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lang="zh-TW" sz="1450" b="0" i="0">
                <a:solidFill>
                  <a:srgbClr val="1E293B"/>
                </a:solidFill>
                <a:latin typeface="Microsoft JhengHei"/>
                <a:ea typeface="Microsoft JhengHei"/>
              </a:rPr>
              <a:t>這次你已經會了——卡片③是萬用模板，換文件名就能用。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1C7293"/>
                </a:solidFill>
                <a:latin typeface="Microsoft JhengHei"/>
                <a:ea typeface="Microsoft JhengHei"/>
              </a:rPr>
              <a:t>14 / HANDS-ON 2A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3000" b="1" i="0">
                <a:solidFill>
                  <a:srgbClr val="1E293B"/>
                </a:solidFill>
                <a:latin typeface="Microsoft JhengHei"/>
                <a:ea typeface="Microsoft JhengHei"/>
              </a:rPr>
              <a:t>前半：名單進系統，三分鐘搞定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1">
                <a:solidFill>
                  <a:srgbClr val="64748B"/>
                </a:solidFill>
                <a:latin typeface="Microsoft JhengHei"/>
                <a:ea typeface="Microsoft JhengHei"/>
              </a:rPr>
              <a:t>做完就匯出備份——這是你回校的起始檔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14255" y="347472"/>
            <a:ext cx="1874519" cy="475488"/>
          </a:xfrm>
          <a:prstGeom prst="roundRect">
            <a:avLst>
              <a:gd name="adj" fmla="val 40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500" b="1">
                <a:solidFill>
                  <a:srgbClr val="0B1F3A"/>
                </a:solidFill>
                <a:latin typeface="Microsoft JhengHei"/>
              </a:rPr>
              <a:t>動手時間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1083564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14400" y="1956816"/>
            <a:ext cx="512064" cy="51206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938528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1E293B"/>
                </a:solidFill>
                <a:latin typeface="Microsoft JhengHei"/>
                <a:ea typeface="Microsoft JhengHei"/>
              </a:rPr>
              <a:t>開桌面檔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874520"/>
            <a:ext cx="7498079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桌面上的「0N-你們學校.html」雙擊開啟 → 隨便點一下 → 右上角「已自動存檔」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779776"/>
            <a:ext cx="1083564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14400" y="2953512"/>
            <a:ext cx="512064" cy="51206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935224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1E293B"/>
                </a:solidFill>
                <a:latin typeface="Microsoft JhengHei"/>
                <a:ea typeface="Microsoft JhengHei"/>
              </a:rPr>
              <a:t>貼上名單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871216"/>
            <a:ext cx="7498079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學生名單分頁 → 從 Excel 複製整批 → 貼進匯入框 → 按貼上匯入（標題列會自動略過）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776472"/>
            <a:ext cx="1083564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14400" y="3950208"/>
            <a:ext cx="512064" cy="512064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93192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1E293B"/>
                </a:solidFill>
                <a:latin typeface="Microsoft JhengHei"/>
                <a:ea typeface="Microsoft JhengHei"/>
              </a:rPr>
              <a:t>點一次名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867912"/>
            <a:ext cx="7498079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教室日誌 → 第 1 週（進去就是預設全到）→ 把沒來的改成缺席／請假 → 看材料費份數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773168"/>
            <a:ext cx="1083564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14400" y="4946904"/>
            <a:ext cx="512064" cy="512064"/>
          </a:xfrm>
          <a:prstGeom prst="ellipse">
            <a:avLst/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928616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1E293B"/>
                </a:solidFill>
                <a:latin typeface="Microsoft JhengHei"/>
                <a:ea typeface="Microsoft JhengHei"/>
              </a:rPr>
              <a:t>匯出備份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4864608"/>
            <a:ext cx="7498079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備份與設定 → 匯出備份 → .json 存隨身碟（換電腦就靠它）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769864"/>
            <a:ext cx="10835640" cy="685800"/>
          </a:xfrm>
          <a:prstGeom prst="roundRect">
            <a:avLst>
              <a:gd name="adj" fmla="val 15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5907024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0B1F3A"/>
                </a:solidFill>
                <a:latin typeface="Microsoft JhengHei"/>
                <a:ea typeface="Microsoft JhengHei"/>
              </a:rPr>
              <a:t>⚠ 線上版（github.io）與桌面檔（file://）資料不互通——今天統一用桌面檔；打錯邊用備份匯出／匯入搬。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1C7293"/>
                </a:solidFill>
                <a:latin typeface="Microsoft JhengHei"/>
                <a:ea typeface="Microsoft JhengHei"/>
              </a:rPr>
              <a:t>15 / DOCUMENT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3000" b="1" i="0">
                <a:solidFill>
                  <a:srgbClr val="1E293B"/>
                </a:solidFill>
                <a:latin typeface="Microsoft JhengHei"/>
                <a:ea typeface="Microsoft JhengHei"/>
              </a:rPr>
              <a:t>文件生產地圖：七份內建、四份用 AI 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1">
                <a:solidFill>
                  <a:srgbClr val="64748B"/>
                </a:solidFill>
                <a:latin typeface="Microsoft JhengHei"/>
                <a:ea typeface="Microsoft JhengHei"/>
              </a:rPr>
              <a:t>挑一份你們學校還缺的，下一頁動手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21208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2E7D5B"/>
                </a:solidFill>
                <a:latin typeface="Microsoft JhengHei"/>
                <a:ea typeface="Microsoft JhengHei"/>
              </a:rPr>
              <a:t>系統內建：直接印、直接匯出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2E7D5B"/>
                </a:solidFill>
                <a:latin typeface="Microsoft JhengHei"/>
                <a:ea typeface="Microsoft JhengHei"/>
              </a:rPr>
              <a:t>✔ </a:t>
            </a:r>
            <a:r>
              <a:rPr lang="zh-TW" sz="1250" b="0" i="0">
                <a:solidFill>
                  <a:srgbClr val="1E293B"/>
                </a:solidFill>
                <a:latin typeface="Microsoft JhengHei"/>
                <a:ea typeface="Microsoft JhengHei"/>
              </a:rPr>
              <a:t>課程規劃表（貳）＋授課時數表 → 課程規劃分頁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07208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2E7D5B"/>
                </a:solidFill>
                <a:latin typeface="Microsoft JhengHei"/>
                <a:ea typeface="Microsoft JhengHei"/>
              </a:rPr>
              <a:t>✔ </a:t>
            </a:r>
            <a:r>
              <a:rPr lang="zh-TW" sz="1250" b="0" i="0">
                <a:solidFill>
                  <a:srgbClr val="1E293B"/>
                </a:solidFill>
                <a:latin typeface="Microsoft JhengHei"/>
                <a:ea typeface="Microsoft JhengHei"/>
              </a:rPr>
              <a:t>學生名單（附件一）→ 名單分頁列印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36976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2E7D5B"/>
                </a:solidFill>
                <a:latin typeface="Microsoft JhengHei"/>
                <a:ea typeface="Microsoft JhengHei"/>
              </a:rPr>
              <a:t>✔ </a:t>
            </a:r>
            <a:r>
              <a:rPr lang="zh-TW" sz="1250" b="0" i="0">
                <a:solidFill>
                  <a:srgbClr val="1E293B"/>
                </a:solidFill>
                <a:latin typeface="Microsoft JhengHei"/>
                <a:ea typeface="Microsoft JhengHei"/>
              </a:rPr>
              <a:t>社團課簽到表（附件二）→ 教室日誌列印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666744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2E7D5B"/>
                </a:solidFill>
                <a:latin typeface="Microsoft JhengHei"/>
                <a:ea typeface="Microsoft JhengHei"/>
              </a:rPr>
              <a:t>✔ </a:t>
            </a:r>
            <a:r>
              <a:rPr lang="zh-TW" sz="1250" b="0" i="0">
                <a:solidFill>
                  <a:srgbClr val="1E293B"/>
                </a:solidFill>
                <a:latin typeface="Microsoft JhengHei"/>
                <a:ea typeface="Microsoft JhengHei"/>
              </a:rPr>
              <a:t>學生回饋單（附件三）→ 回饋單分頁列印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096512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2E7D5B"/>
                </a:solidFill>
                <a:latin typeface="Microsoft JhengHei"/>
                <a:ea typeface="Microsoft JhengHei"/>
              </a:rPr>
              <a:t>✔ </a:t>
            </a:r>
            <a:r>
              <a:rPr lang="zh-TW" sz="1250" b="0" i="0">
                <a:solidFill>
                  <a:srgbClr val="1E293B"/>
                </a:solidFill>
                <a:latin typeface="Microsoft JhengHei"/>
                <a:ea typeface="Microsoft JhengHei"/>
              </a:rPr>
              <a:t>課程紀錄（參）→ 教室日誌逐週填、列印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52628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2E7D5B"/>
                </a:solidFill>
                <a:latin typeface="Microsoft JhengHei"/>
                <a:ea typeface="Microsoft JhengHei"/>
              </a:rPr>
              <a:t>✔ </a:t>
            </a:r>
            <a:r>
              <a:rPr lang="zh-TW" sz="1250" b="0" i="0">
                <a:solidFill>
                  <a:srgbClr val="1E293B"/>
                </a:solidFill>
                <a:latin typeface="Microsoft JhengHei"/>
                <a:ea typeface="Microsoft JhengHei"/>
              </a:rPr>
              <a:t>核銷登記＋材料費對帳 → 經費核銷分頁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956048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2E7D5B"/>
                </a:solidFill>
                <a:latin typeface="Microsoft JhengHei"/>
                <a:ea typeface="Microsoft JhengHei"/>
              </a:rPr>
              <a:t>✔ </a:t>
            </a:r>
            <a:r>
              <a:rPr lang="zh-TW" sz="1250" b="0" i="0">
                <a:solidFill>
                  <a:srgbClr val="1E293B"/>
                </a:solidFill>
                <a:latin typeface="Microsoft JhengHei"/>
                <a:ea typeface="Microsoft JhengHei"/>
              </a:rPr>
              <a:t>成果報告書素材頁（壹＋肆）→ 總覽列印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4406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64748B"/>
                </a:solidFill>
                <a:latin typeface="Microsoft JhengHei"/>
                <a:ea typeface="Microsoft JhengHei"/>
              </a:rPr>
              <a:t>這七份今天已經在你電腦裡了。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83080"/>
            <a:ext cx="525780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1965960"/>
            <a:ext cx="4709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C99A3E"/>
                </a:solidFill>
                <a:latin typeface="Microsoft JhengHei"/>
                <a:ea typeface="Microsoft JhengHei"/>
              </a:rPr>
              <a:t>用 AI 做：挑一份，現在做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46888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C99A3E"/>
                </a:solidFill>
                <a:latin typeface="Microsoft JhengHei"/>
                <a:ea typeface="Microsoft JhengHei"/>
              </a:rPr>
              <a:t>→ </a:t>
            </a: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單元教案（配 24 週主題）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97180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C99A3E"/>
                </a:solidFill>
                <a:latin typeface="Microsoft JhengHei"/>
                <a:ea typeface="Microsoft JhengHei"/>
              </a:rPr>
              <a:t>→ </a:t>
            </a: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觀課紀錄表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47472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C99A3E"/>
                </a:solidFill>
                <a:latin typeface="Microsoft JhengHei"/>
                <a:ea typeface="Microsoft JhengHei"/>
              </a:rPr>
              <a:t>→ </a:t>
            </a: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專家聯絡單＋專家教學演示紀錄表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97764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C99A3E"/>
                </a:solidFill>
                <a:latin typeface="Microsoft JhengHei"/>
                <a:ea typeface="Microsoft JhengHei"/>
              </a:rPr>
              <a:t>→ </a:t>
            </a: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教授訪視觀課指導紀錄表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48056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C99A3E"/>
                </a:solidFill>
                <a:latin typeface="Microsoft JhengHei"/>
                <a:ea typeface="Microsoft JhengHei"/>
              </a:rPr>
              <a:t>→ </a:t>
            </a: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成果報告書（期末組裝：下一輪教）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5074920"/>
            <a:ext cx="4709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64748B"/>
                </a:solidFill>
                <a:latin typeface="Microsoft JhengHei"/>
                <a:ea typeface="Microsoft JhengHei"/>
              </a:rPr>
              <a:t>做法完全同一招：規格 → 成品 → 驗收。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1C7293"/>
                </a:solidFill>
                <a:latin typeface="Microsoft JhengHei"/>
                <a:ea typeface="Microsoft JhengHei"/>
              </a:rPr>
              <a:t>16 / HANDS-ON 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3000" b="1" i="0">
                <a:solidFill>
                  <a:srgbClr val="1E293B"/>
                </a:solidFill>
                <a:latin typeface="Microsoft JhengHei"/>
                <a:ea typeface="Microsoft JhengHei"/>
              </a:rPr>
              <a:t>後半：用萬用模板，做出你挑的那份表單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1">
                <a:solidFill>
                  <a:srgbClr val="64748B"/>
                </a:solidFill>
                <a:latin typeface="Microsoft JhengHei"/>
                <a:ea typeface="Microsoft JhengHei"/>
              </a:rPr>
              <a:t>換掉文件名稱和欄位，同一招無限複製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14255" y="347472"/>
            <a:ext cx="1874519" cy="475488"/>
          </a:xfrm>
          <a:prstGeom prst="roundRect">
            <a:avLst>
              <a:gd name="adj" fmla="val 40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500" b="1">
                <a:solidFill>
                  <a:srgbClr val="0B1F3A"/>
                </a:solidFill>
                <a:latin typeface="Microsoft JhengHei"/>
              </a:rPr>
              <a:t>動手時間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676656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6766560" cy="475488"/>
          </a:xfrm>
          <a:prstGeom prst="roundRect">
            <a:avLst>
              <a:gd name="adj" fmla="val 6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901952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FFFFFF"/>
                </a:solidFill>
                <a:latin typeface="Microsoft JhengHei"/>
                <a:ea typeface="Microsoft JhengHei"/>
              </a:rPr>
              <a:t>提示詞卡③　萬用文件模板（先 ChatGPT、再 Antigravity）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50592"/>
            <a:ext cx="6309360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【第一步・貼給 ChatGPT】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我是＿＿＿學校科學社團的老師，參加仰望教育基金會扶助計畫。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我需要一份「＿＿＿＿＿」（例：觀課紀錄表／專家聯絡單／單元教案），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用途是＿＿＿＿＿。請幫我想清楚：這份文件要有哪些欄位？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哪些欄位我自己填、哪些可以預先印好？請只給規格，不要寫程式。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endParaRPr lang="zh-TW" sz="1350" b="0" i="0">
              <a:solidFill>
                <a:srgbClr val="1E293B"/>
              </a:solidFill>
              <a:latin typeface="Microsoft JhengHei"/>
              <a:ea typeface="Microsoft JhengHei"/>
            </a:endParaRP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【第二步・貼給 Antigravity】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請照下面規格做出這份文件：（貼上規格）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要求：HTML 單檔、A4 可列印、繁體中文台灣用語、欄位留白夠手寫。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存到我現在開著的這個資料夾的根目錄。做完告訴我檔案在哪。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1828800"/>
            <a:ext cx="379476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01000" y="20574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065A82"/>
                </a:solidFill>
                <a:latin typeface="Microsoft JhengHei"/>
                <a:ea typeface="Microsoft JhengHei"/>
              </a:rPr>
              <a:t>提示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514600"/>
            <a:ext cx="329184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教案類可以加一句：「請對照我上午做的 24 週課程規劃表，以第＿週的主題為例」。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endParaRPr lang="zh-TW" sz="1400" b="0" i="0">
              <a:solidFill>
                <a:srgbClr val="1E293B"/>
              </a:solidFill>
              <a:latin typeface="Microsoft JhengHei"/>
              <a:ea typeface="Microsoft JhengHei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紀錄表類記得留：日期、地點、出席人員、簽名欄。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endParaRPr lang="zh-TW" sz="1400" b="0" i="0">
              <a:solidFill>
                <a:srgbClr val="1E293B"/>
              </a:solidFill>
              <a:latin typeface="Microsoft JhengHei"/>
              <a:ea typeface="Microsoft JhengHei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做完一樣跑口訣：對路徑、對數量、抽查內容。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17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1C7293"/>
                </a:solidFill>
                <a:latin typeface="Microsoft JhengHei"/>
                <a:ea typeface="Microsoft JhengHei"/>
              </a:rPr>
              <a:t>17 / 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3000" b="1" i="0">
                <a:solidFill>
                  <a:srgbClr val="1E293B"/>
                </a:solidFill>
                <a:latin typeface="Microsoft JhengHei"/>
                <a:ea typeface="Microsoft JhengHei"/>
              </a:rPr>
              <a:t>兩件作品就緒——11:50 統一收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1">
                <a:solidFill>
                  <a:srgbClr val="64748B"/>
                </a:solidFill>
                <a:latin typeface="Microsoft JhengHei"/>
                <a:ea typeface="Microsoft JhengHei"/>
              </a:rPr>
              <a:t>系統備份檔＋你自己做的表單，先放繳交區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37360" y="2011680"/>
            <a:ext cx="42062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057400" y="2331720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42316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800" b="1" i="0">
                <a:solidFill>
                  <a:srgbClr val="1E293B"/>
                </a:solidFill>
                <a:latin typeface="Microsoft JhengHei"/>
                <a:ea typeface="Microsoft JhengHei"/>
              </a:rPr>
              <a:t>系統備份檔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3200400"/>
            <a:ext cx="3566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「學校名_仰望社團備份.json」——名單已入、點過名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011680"/>
            <a:ext cx="42062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720840" y="2331720"/>
            <a:ext cx="640080" cy="640080"/>
          </a:xfrm>
          <a:prstGeom prst="ellipse">
            <a:avLst/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42316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800" b="1" i="0">
                <a:solidFill>
                  <a:srgbClr val="1E293B"/>
                </a:solidFill>
                <a:latin typeface="Microsoft JhengHei"/>
                <a:ea typeface="Microsoft JhengHei"/>
              </a:rPr>
              <a:t>自製表單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200400"/>
            <a:ext cx="3566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「學校名_文件名.html」——口訣驗收過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434840"/>
            <a:ext cx="10835640" cy="685800"/>
          </a:xfrm>
          <a:prstGeom prst="roundRect">
            <a:avLst>
              <a:gd name="adj" fmla="val 15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457200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0B1F3A"/>
                </a:solidFill>
                <a:latin typeface="Microsoft JhengHei"/>
                <a:ea typeface="Microsoft JhengHei"/>
              </a:rPr>
              <a:t>到這裡，官方報告的貳、肆、附件一二三，你全部有著落了。剩最後一塊：怎麼組成報告。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18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1C7293"/>
                </a:solidFill>
                <a:latin typeface="Microsoft JhengHei"/>
                <a:ea typeface="Microsoft JhengHei"/>
              </a:rPr>
              <a:t>18 /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3000" b="1" i="0">
                <a:solidFill>
                  <a:srgbClr val="1E293B"/>
                </a:solidFill>
                <a:latin typeface="Microsoft JhengHei"/>
                <a:ea typeface="Microsoft JhengHei"/>
              </a:rPr>
              <a:t>期末不用熬夜：成果報告書是「組裝」出來的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1">
                <a:solidFill>
                  <a:srgbClr val="64748B"/>
                </a:solidFill>
                <a:latin typeface="Microsoft JhengHei"/>
                <a:ea typeface="Microsoft JhengHei"/>
              </a:rPr>
              <a:t>官方六節 × 你手上的材料，一一對應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14255" y="347472"/>
            <a:ext cx="1874519" cy="475488"/>
          </a:xfrm>
          <a:prstGeom prst="roundRect">
            <a:avLst>
              <a:gd name="adj" fmla="val 4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現場示範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1083564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1C7293"/>
                </a:solidFill>
                <a:latin typeface="Microsoft JhengHei"/>
                <a:ea typeface="Microsoft JhengHei"/>
              </a:rPr>
              <a:t>壹　基本資料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874520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總覽「列印成果報告書素材頁」一鍵印出（含指導老師）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96312"/>
            <a:ext cx="1083564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587752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065A82"/>
                </a:solidFill>
                <a:latin typeface="Microsoft JhengHei"/>
                <a:ea typeface="Microsoft JhengHei"/>
              </a:rPr>
              <a:t>貳　課程規劃表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587752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課程規劃分頁 → 列印（含時數欄）／匯出 CSV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09544"/>
            <a:ext cx="1083564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300984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2E7D5B"/>
                </a:solidFill>
                <a:latin typeface="Microsoft JhengHei"/>
                <a:ea typeface="Microsoft JhengHei"/>
              </a:rPr>
              <a:t>參　課程紀錄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300984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教室日誌逐週填的課程紀錄 → 列印即初稿；圖說用卡片④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922776"/>
            <a:ext cx="1083564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4014216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C99A3E"/>
                </a:solidFill>
                <a:latin typeface="Microsoft JhengHei"/>
                <a:ea typeface="Microsoft JhengHei"/>
              </a:rPr>
              <a:t>肆　效益達成（七個%）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4014216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素材頁一鍵印出，每個數字帶來源與分母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636008"/>
            <a:ext cx="1083564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4727448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0B1F3A"/>
                </a:solidFill>
                <a:latin typeface="Microsoft JhengHei"/>
                <a:ea typeface="Microsoft JhengHei"/>
              </a:rPr>
              <a:t>伍　結論與建議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4727448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回饋單分頁「第 5 題彙整框」＋你的觀察，請 ChatGPT 潤稿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49240"/>
            <a:ext cx="1083564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544068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1C7293"/>
                </a:solidFill>
                <a:latin typeface="Microsoft JhengHei"/>
                <a:ea typeface="Microsoft JhengHei"/>
              </a:rPr>
              <a:t>陸　附件一二三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5440680"/>
            <a:ext cx="6583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名單列印／CSV、出席總表 CSV、回饋單，系統匯出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1C7293"/>
                </a:solidFill>
                <a:latin typeface="Microsoft JhengHei"/>
                <a:ea typeface="Microsoft JhengHei"/>
              </a:rPr>
              <a:t>19 / PHOTOS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3000" b="1" i="0">
                <a:solidFill>
                  <a:srgbClr val="1E293B"/>
                </a:solidFill>
                <a:latin typeface="Microsoft JhengHei"/>
                <a:ea typeface="Microsoft JhengHei"/>
              </a:rPr>
              <a:t>從 200 張照片挑 12 張＋防止 AI 亂編圖說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1">
                <a:solidFill>
                  <a:srgbClr val="64748B"/>
                </a:solidFill>
                <a:latin typeface="Microsoft JhengHei"/>
                <a:ea typeface="Microsoft JhengHei"/>
              </a:rPr>
              <a:t>課程紀錄＝兩大項 × 各 6 張照片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6309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4400" y="1975104"/>
            <a:ext cx="530352" cy="53035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874520"/>
            <a:ext cx="24688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50" b="1" i="0">
                <a:solidFill>
                  <a:srgbClr val="1E293B"/>
                </a:solidFill>
                <a:latin typeface="Microsoft JhengHei"/>
                <a:ea typeface="Microsoft JhengHei"/>
              </a:rPr>
              <a:t>這張對應到第幾週？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874520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250" b="0" i="0">
                <a:solidFill>
                  <a:srgbClr val="1E293B"/>
                </a:solidFill>
                <a:latin typeface="Microsoft JhengHei"/>
                <a:ea typeface="Microsoft JhengHei"/>
              </a:rPr>
              <a:t>答不出來就不選——每張照片要能掛回課程規劃表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825495"/>
            <a:ext cx="6309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14400" y="3017519"/>
            <a:ext cx="530352" cy="530352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916935"/>
            <a:ext cx="24688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50" b="1" i="0">
                <a:solidFill>
                  <a:srgbClr val="1E293B"/>
                </a:solidFill>
                <a:latin typeface="Microsoft JhengHei"/>
                <a:ea typeface="Microsoft JhengHei"/>
              </a:rPr>
              <a:t>這一週已經有兩張了嗎？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916935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250" b="0" i="0">
                <a:solidFill>
                  <a:srgbClr val="1E293B"/>
                </a:solidFill>
                <a:latin typeface="Microsoft JhengHei"/>
                <a:ea typeface="Microsoft JhengHei"/>
              </a:rPr>
              <a:t>一張看得到人在動作、一張是東西或成果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867910"/>
            <a:ext cx="6309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14400" y="4059934"/>
            <a:ext cx="530352" cy="530352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959350"/>
            <a:ext cx="24688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50" b="1" i="0">
                <a:solidFill>
                  <a:srgbClr val="1E293B"/>
                </a:solidFill>
                <a:latin typeface="Microsoft JhengHei"/>
                <a:ea typeface="Microsoft JhengHei"/>
              </a:rPr>
              <a:t>今天有失敗或意外嗎？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959350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250" b="0" i="0">
                <a:solidFill>
                  <a:srgbClr val="1E293B"/>
                </a:solidFill>
                <a:latin typeface="Microsoft JhengHei"/>
                <a:ea typeface="Microsoft JhengHei"/>
              </a:rPr>
              <a:t>有的話優先放——官方計畫目的就寫著「從失敗中找原因」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956045"/>
            <a:ext cx="6309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C99A3E"/>
                </a:solidFill>
                <a:latin typeface="Microsoft JhengHei"/>
                <a:ea typeface="Microsoft JhengHei"/>
              </a:rPr>
              <a:t>拍之前掃一眼背景：</a:t>
            </a: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座位表、聯絡簿、制服姓名——個資不進報告。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80" y="1783080"/>
            <a:ext cx="425196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269480" y="1783080"/>
            <a:ext cx="4251960" cy="475488"/>
          </a:xfrm>
          <a:prstGeom prst="roundRect">
            <a:avLst>
              <a:gd name="adj" fmla="val 6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98080" y="1856232"/>
            <a:ext cx="3794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FFFFFF"/>
                </a:solidFill>
                <a:latin typeface="Microsoft JhengHei"/>
                <a:ea typeface="Microsoft JhengHei"/>
              </a:rPr>
              <a:t>提示詞卡④　寫圖說（防亂編）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2404872"/>
            <a:ext cx="3794760" cy="3429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00" b="0" i="0">
                <a:solidFill>
                  <a:srgbClr val="1E293B"/>
                </a:solidFill>
                <a:latin typeface="Microsoft JhengHei"/>
                <a:ea typeface="Microsoft JhengHei"/>
              </a:rPr>
              <a:t>這是我們社團活動的照片，附上計畫書。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00" b="0" i="0">
                <a:solidFill>
                  <a:srgbClr val="1E293B"/>
                </a:solidFill>
                <a:latin typeface="Microsoft JhengHei"/>
                <a:ea typeface="Microsoft JhengHei"/>
              </a:rPr>
              <a:t>請幫我寫一段課程紀錄的文字說明。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endParaRPr lang="zh-TW" sz="1300" b="0" i="0">
              <a:solidFill>
                <a:srgbClr val="1E293B"/>
              </a:solidFill>
              <a:latin typeface="Microsoft JhengHei"/>
              <a:ea typeface="Microsoft JhengHei"/>
            </a:endParaRP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00" b="0" i="0">
                <a:solidFill>
                  <a:srgbClr val="1E293B"/>
                </a:solidFill>
                <a:latin typeface="Microsoft JhengHei"/>
                <a:ea typeface="Microsoft JhengHei"/>
              </a:rPr>
              <a:t>重要：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00" b="0" i="0">
                <a:solidFill>
                  <a:srgbClr val="1E293B"/>
                </a:solidFill>
                <a:latin typeface="Microsoft JhengHei"/>
                <a:ea typeface="Microsoft JhengHei"/>
              </a:rPr>
              <a:t>・只寫照片上真的看得到的東西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00" b="0" i="0">
                <a:solidFill>
                  <a:srgbClr val="1E293B"/>
                </a:solidFill>
                <a:latin typeface="Microsoft JhengHei"/>
                <a:ea typeface="Microsoft JhengHei"/>
              </a:rPr>
              <a:t>・看不出來的標「不確定」，不要用計畫書的內容去猜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00" b="0" i="0">
                <a:solidFill>
                  <a:srgbClr val="1E293B"/>
                </a:solidFill>
                <a:latin typeface="Microsoft JhengHei"/>
                <a:ea typeface="Microsoft JhengHei"/>
              </a:rPr>
              <a:t>・不要幫我編出沒發生過的事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endParaRPr lang="zh-TW" sz="1300" b="0" i="0">
              <a:solidFill>
                <a:srgbClr val="1E293B"/>
              </a:solidFill>
              <a:latin typeface="Microsoft JhengHei"/>
              <a:ea typeface="Microsoft JhengHei"/>
            </a:endParaRP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00" b="0" i="0">
                <a:solidFill>
                  <a:srgbClr val="1E293B"/>
                </a:solidFill>
                <a:latin typeface="Microsoft JhengHei"/>
                <a:ea typeface="Microsoft JhengHei"/>
              </a:rPr>
              <a:t>（最後三行是實測有效的保命符）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20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1C7293"/>
                </a:solidFill>
                <a:latin typeface="Microsoft JhengHei"/>
                <a:ea typeface="Microsoft JhengHei"/>
              </a:rPr>
              <a:t>20 / HANDS-ON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3000" b="1" i="0">
                <a:solidFill>
                  <a:srgbClr val="1E293B"/>
                </a:solidFill>
                <a:latin typeface="Microsoft JhengHei"/>
                <a:ea typeface="Microsoft JhengHei"/>
              </a:rPr>
              <a:t>動手三：請 ChatGPT 當檢查員，驗收你今天的作品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1">
                <a:solidFill>
                  <a:srgbClr val="64748B"/>
                </a:solidFill>
                <a:latin typeface="Microsoft JhengHei"/>
                <a:ea typeface="Microsoft JhengHei"/>
              </a:rPr>
              <a:t>最後一輪：把「檢查」也變成反射動作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14255" y="347472"/>
            <a:ext cx="1874519" cy="475488"/>
          </a:xfrm>
          <a:prstGeom prst="roundRect">
            <a:avLst>
              <a:gd name="adj" fmla="val 40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500" b="1">
                <a:solidFill>
                  <a:srgbClr val="0B1F3A"/>
                </a:solidFill>
                <a:latin typeface="Microsoft JhengHei"/>
              </a:rPr>
              <a:t>動手時間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676656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6766560" cy="475488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901952"/>
            <a:ext cx="6309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FFFFFF"/>
                </a:solidFill>
                <a:latin typeface="Microsoft JhengHei"/>
                <a:ea typeface="Microsoft JhengHei"/>
              </a:rPr>
              <a:t>提示詞卡⑤　請檢查員驗收（貼回 ChatGPT）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50592"/>
            <a:ext cx="6309360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這是我今天做出來的東西：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1. 學生回饋單（貼上題目內容）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2. ＿＿＿＿表單（貼上欄位內容或描述）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endParaRPr lang="zh-TW" sz="1350" b="0" i="0">
              <a:solidFill>
                <a:srgbClr val="1E293B"/>
              </a:solidFill>
              <a:latin typeface="Microsoft JhengHei"/>
              <a:ea typeface="Microsoft JhengHei"/>
            </a:endParaRP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請幫我對照仰望計畫官方成果報告書的要求，檢查：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1. 回饋單的四題，期末算得出官方要的四個百分比嗎？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2. 這份表單有沒有漏掉必要欄位？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3. 材料費份數的規則（出席＋實際授課教師人數）有沒有地方會對不起來？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endParaRPr lang="zh-TW" sz="1350" b="0" i="0">
              <a:solidFill>
                <a:srgbClr val="1E293B"/>
              </a:solidFill>
              <a:latin typeface="Microsoft JhengHei"/>
              <a:ea typeface="Microsoft JhengHei"/>
            </a:endParaRP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只要告訴我哪裡不對、怎麼補，不用重做。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1828800"/>
            <a:ext cx="379476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01000" y="20574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065A82"/>
                </a:solidFill>
                <a:latin typeface="Microsoft JhengHei"/>
                <a:ea typeface="Microsoft JhengHei"/>
              </a:rPr>
              <a:t>為什麼最後練這個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560320"/>
            <a:ext cx="329184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你已經有兩個 AI 了：一個負責做，一個負責挑錯。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endParaRPr lang="zh-TW" sz="1400" b="0" i="0">
              <a:solidFill>
                <a:srgbClr val="1E293B"/>
              </a:solidFill>
              <a:latin typeface="Microsoft JhengHei"/>
              <a:ea typeface="Microsoft JhengHei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我們用三個 AI 查同一批資料——每一個都犯錯，但沒有一個錯是三個都犯的。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endParaRPr lang="zh-TW" sz="1400" b="0" i="0">
              <a:solidFill>
                <a:srgbClr val="1E293B"/>
              </a:solidFill>
              <a:latin typeface="Microsoft JhengHei"/>
              <a:ea typeface="Microsoft JhengHei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400" b="0" i="0">
                <a:solidFill>
                  <a:srgbClr val="1E293B"/>
                </a:solidFill>
                <a:latin typeface="Microsoft JhengHei"/>
                <a:ea typeface="Microsoft JhengHei"/>
              </a:rPr>
              <a:t>檢查出問題的，當場補；沒問題的，恭喜，你的東西通過驗收。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1C7293"/>
                </a:solidFill>
                <a:latin typeface="Microsoft JhengHei"/>
                <a:ea typeface="Microsoft JhengHei"/>
              </a:rPr>
              <a:t>21 /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3000" b="1" i="0">
                <a:solidFill>
                  <a:srgbClr val="1E293B"/>
                </a:solidFill>
                <a:latin typeface="Microsoft JhengHei"/>
                <a:ea typeface="Microsoft JhengHei"/>
              </a:rPr>
              <a:t>今天帶回學校的五樣東西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1">
                <a:solidFill>
                  <a:srgbClr val="64748B"/>
                </a:solidFill>
                <a:latin typeface="Microsoft JhengHei"/>
                <a:ea typeface="Microsoft JhengHei"/>
              </a:rPr>
              <a:t>檔案在繳交資料夾與共用資料夾都有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52578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" y="2103120"/>
            <a:ext cx="548640" cy="54864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14884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700" b="1" i="0">
                <a:solidFill>
                  <a:srgbClr val="1E293B"/>
                </a:solidFill>
                <a:latin typeface="Microsoft JhengHei"/>
                <a:ea typeface="Microsoft JhengHei"/>
              </a:rPr>
              <a:t>系統＋名單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36118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你們學校專屬版＋備份檔
rlirdo.github.io/yangwang-club-manager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2578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537960" y="2103120"/>
            <a:ext cx="548640" cy="54864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14884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700" b="1" i="0">
                <a:solidFill>
                  <a:srgbClr val="1E293B"/>
                </a:solidFill>
                <a:latin typeface="Microsoft JhengHei"/>
                <a:ea typeface="Microsoft JhengHei"/>
              </a:rPr>
              <a:t>兩份自製文件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743200"/>
            <a:ext cx="46634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回饋單＋你挑的表單，驗收過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31920"/>
            <a:ext cx="52578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60120" y="4206240"/>
            <a:ext cx="548640" cy="54864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25196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700" b="1" i="0">
                <a:solidFill>
                  <a:srgbClr val="1E293B"/>
                </a:solidFill>
                <a:latin typeface="Microsoft JhengHei"/>
                <a:ea typeface="Microsoft JhengHei"/>
              </a:rPr>
              <a:t>提示詞卡①-⑤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846320"/>
            <a:ext cx="46634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全文可複製：rlirdo.github.io/yangwang-club-manager/prompts.html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931920"/>
            <a:ext cx="52578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537960" y="4206240"/>
            <a:ext cx="548640" cy="548640"/>
          </a:xfrm>
          <a:prstGeom prst="ellipse">
            <a:avLst/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25196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700" b="1" i="0">
                <a:solidFill>
                  <a:srgbClr val="1E293B"/>
                </a:solidFill>
                <a:latin typeface="Microsoft JhengHei"/>
                <a:ea typeface="Microsoft JhengHei"/>
              </a:rPr>
              <a:t>參考資源＋投稿機會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846320"/>
            <a:ext cx="46634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北濱國小期末報告、東華在地教案庫、9/20 教案徵選——名額、義務與網址見下一頁</a:t>
            </a:r>
          </a:p>
        </p:txBody>
      </p:sp>
      <p:pic>
        <p:nvPicPr>
          <p:cNvPr id="22" name="Picture 21" descr="qr_schoo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331720"/>
            <a:ext cx="1051560" cy="10515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1">
                <a:solidFill>
                  <a:srgbClr val="1C7293"/>
                </a:solidFill>
                <a:latin typeface="Microsoft JhengHei"/>
                <a:ea typeface="Microsoft JhengHei"/>
              </a:rPr>
              <a:t>22 / SCHOOL LINKS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9509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3000" b="1">
                <a:solidFill>
                  <a:srgbClr val="1E293B"/>
                </a:solidFill>
                <a:latin typeface="Microsoft JhengHei"/>
                <a:ea typeface="Microsoft JhengHei"/>
              </a:rPr>
              <a:t>九校專屬系統連結：點校名直達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0">
                <a:solidFill>
                  <a:srgbClr val="64748B"/>
                </a:solidFill>
                <a:latin typeface="Microsoft JhengHei"/>
                <a:ea typeface="Microsoft JhengHei"/>
              </a:rPr>
              <a:t>網址開頭都是 rlirdo.github.io/yangwang-club-manager/　掃 QR 進選校頁最快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11480"/>
            <a:ext cx="1188720" cy="1188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" y="1691640"/>
            <a:ext cx="1083564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746504"/>
            <a:ext cx="502920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746504"/>
            <a:ext cx="39319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1">
                <a:solidFill>
                  <a:srgbClr val="1E293B"/>
                </a:solidFill>
                <a:latin typeface="Microsoft JhengHei"/>
                <a:ea typeface="Microsoft JhengHei"/>
              </a:rPr>
              <a:t>花蓮縣立北昌國民小學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746504"/>
            <a:ext cx="57607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64748B"/>
                </a:solidFill>
                <a:latin typeface="Microsoft JhengHei"/>
                <a:ea typeface="Microsoft JhengHei"/>
              </a:rPr>
              <a:t>…/schools/01-花蓮縣立北昌國民小學.html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167128"/>
            <a:ext cx="1083564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2221992"/>
            <a:ext cx="502920" cy="31089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221992"/>
            <a:ext cx="39319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1">
                <a:solidFill>
                  <a:srgbClr val="1E293B"/>
                </a:solidFill>
                <a:latin typeface="Microsoft JhengHei"/>
                <a:ea typeface="Microsoft JhengHei"/>
              </a:rPr>
              <a:t>花蓮縣立秀林國民中學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221992"/>
            <a:ext cx="57607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64748B"/>
                </a:solidFill>
                <a:latin typeface="Microsoft JhengHei"/>
                <a:ea typeface="Microsoft JhengHei"/>
              </a:rPr>
              <a:t>…/schools/02-花蓮縣立秀林國民中學.html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642616"/>
            <a:ext cx="1083564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" y="2697480"/>
            <a:ext cx="502920" cy="310896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2697480"/>
            <a:ext cx="39319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1">
                <a:solidFill>
                  <a:srgbClr val="1E293B"/>
                </a:solidFill>
                <a:latin typeface="Microsoft JhengHei"/>
                <a:ea typeface="Microsoft JhengHei"/>
              </a:rPr>
              <a:t>花蓮縣立美崙國民中學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697480"/>
            <a:ext cx="57607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64748B"/>
                </a:solidFill>
                <a:latin typeface="Microsoft JhengHei"/>
                <a:ea typeface="Microsoft JhengHei"/>
              </a:rPr>
              <a:t>…/schools/03-花蓮縣立美崙國民中學.html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118104"/>
            <a:ext cx="1083564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8680" y="3172968"/>
            <a:ext cx="502920" cy="310896"/>
          </a:xfrm>
          <a:prstGeom prst="roundRect">
            <a:avLst>
              <a:gd name="adj" fmla="val 50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3172968"/>
            <a:ext cx="39319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1">
                <a:solidFill>
                  <a:srgbClr val="1E293B"/>
                </a:solidFill>
                <a:latin typeface="Microsoft JhengHei"/>
                <a:ea typeface="Microsoft JhengHei"/>
              </a:rPr>
              <a:t>花蓮縣立國風國民中學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3172968"/>
            <a:ext cx="57607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64748B"/>
                </a:solidFill>
                <a:latin typeface="Microsoft JhengHei"/>
                <a:ea typeface="Microsoft JhengHei"/>
              </a:rPr>
              <a:t>…/schools/04-花蓮縣立國風國民中學.html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593592"/>
            <a:ext cx="1083564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68680" y="3648456"/>
            <a:ext cx="502920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3648456"/>
            <a:ext cx="39319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1">
                <a:solidFill>
                  <a:srgbClr val="1E293B"/>
                </a:solidFill>
                <a:latin typeface="Microsoft JhengHei"/>
                <a:ea typeface="Microsoft JhengHei"/>
              </a:rPr>
              <a:t>花蓮縣光復鄉大興國民小學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3648456"/>
            <a:ext cx="57607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64748B"/>
                </a:solidFill>
                <a:latin typeface="Microsoft JhengHei"/>
                <a:ea typeface="Microsoft JhengHei"/>
              </a:rPr>
              <a:t>…/schools/05-花蓮縣光復鄉大興國民小學.html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069080"/>
            <a:ext cx="1083564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68680" y="4123944"/>
            <a:ext cx="502920" cy="310896"/>
          </a:xfrm>
          <a:prstGeom prst="roundRect">
            <a:avLst>
              <a:gd name="adj" fmla="val 50000"/>
            </a:avLst>
          </a:prstGeom>
          <a:solidFill>
            <a:srgbClr val="5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4123944"/>
            <a:ext cx="39319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1">
                <a:solidFill>
                  <a:srgbClr val="1E293B"/>
                </a:solidFill>
                <a:latin typeface="Microsoft JhengHei"/>
                <a:ea typeface="Microsoft JhengHei"/>
              </a:rPr>
              <a:t>花蓮縣秀林鄉佳民國民小學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4123944"/>
            <a:ext cx="57607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64748B"/>
                </a:solidFill>
                <a:latin typeface="Microsoft JhengHei"/>
                <a:ea typeface="Microsoft JhengHei"/>
              </a:rPr>
              <a:t>…/schools/06-花蓮縣秀林鄉佳民國民小學.html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544568"/>
            <a:ext cx="1083564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68680" y="4599432"/>
            <a:ext cx="502920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0200" y="4599432"/>
            <a:ext cx="39319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1">
                <a:solidFill>
                  <a:srgbClr val="1E293B"/>
                </a:solidFill>
                <a:latin typeface="Microsoft JhengHei"/>
                <a:ea typeface="Microsoft JhengHei"/>
              </a:rPr>
              <a:t>花蓮縣壽豐鄉豐山國民小學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4599432"/>
            <a:ext cx="57607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64748B"/>
                </a:solidFill>
                <a:latin typeface="Microsoft JhengHei"/>
                <a:ea typeface="Microsoft JhengHei"/>
              </a:rPr>
              <a:t>…/schools/07-花蓮縣壽豐鄉豐山國民小學.html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5020056"/>
            <a:ext cx="1083564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68680" y="5074920"/>
            <a:ext cx="502920" cy="31089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0200" y="5074920"/>
            <a:ext cx="39319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1">
                <a:solidFill>
                  <a:srgbClr val="1E293B"/>
                </a:solidFill>
                <a:latin typeface="Microsoft JhengHei"/>
                <a:ea typeface="Microsoft JhengHei"/>
              </a:rPr>
              <a:t>花蓮縣壽豐鄉豐裡國民小學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5074920"/>
            <a:ext cx="57607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64748B"/>
                </a:solidFill>
                <a:latin typeface="Microsoft JhengHei"/>
                <a:ea typeface="Microsoft JhengHei"/>
              </a:rPr>
              <a:t>…/schools/08-花蓮縣壽豐鄉豐裡國民小學.html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5495544"/>
            <a:ext cx="1083564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68680" y="5550407"/>
            <a:ext cx="502920" cy="310896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00200" y="5550407"/>
            <a:ext cx="39319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1">
                <a:solidFill>
                  <a:srgbClr val="1E293B"/>
                </a:solidFill>
                <a:latin typeface="Microsoft JhengHei"/>
                <a:ea typeface="Microsoft JhengHei"/>
              </a:rPr>
              <a:t>花蓮縣秀林鄉西寶國民小學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5550407"/>
            <a:ext cx="57607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>
                <a:solidFill>
                  <a:srgbClr val="64748B"/>
                </a:solidFill>
                <a:latin typeface="Microsoft JhengHei"/>
                <a:ea typeface="Microsoft JhengHei"/>
              </a:rPr>
              <a:t>…/schools/09-花蓮縣秀林鄉西寶國民小學.html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5800" y="5998464"/>
            <a:ext cx="10835640" cy="457200"/>
          </a:xfrm>
          <a:prstGeom prst="roundRect">
            <a:avLst>
              <a:gd name="adj" fmla="val 20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0120" y="6099048"/>
            <a:ext cx="1033272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350" b="1">
                <a:solidFill>
                  <a:srgbClr val="0B1F3A"/>
                </a:solidFill>
                <a:latin typeface="Microsoft JhengHei"/>
                <a:ea typeface="Microsoft JhengHei"/>
              </a:rPr>
              <a:t>選校頁（QR 同此）：rlirdo.github.io/yangwang-club-manager/schools/　各校資料各自獨立、互不干擾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300"/>
              </a:spcAft>
            </a:pPr>
            <a:r>
              <a:rPr sz="1000" b="0">
                <a:solidFill>
                  <a:srgbClr val="64748B"/>
                </a:solidFill>
                <a:latin typeface="Microsoft JhengHei"/>
                <a:ea typeface="Microsoft JhengHei"/>
              </a:rPr>
              <a:t>23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1C7293"/>
                </a:solidFill>
                <a:latin typeface="Microsoft JhengHei"/>
                <a:ea typeface="Microsoft JhengHei"/>
              </a:rPr>
              <a:t>23 /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3000" b="1" i="0">
                <a:solidFill>
                  <a:srgbClr val="1E293B"/>
                </a:solidFill>
                <a:latin typeface="Microsoft JhengHei"/>
                <a:ea typeface="Microsoft JhengHei"/>
              </a:rPr>
              <a:t>9/20 教案徵選＋兩個參考資源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1">
                <a:solidFill>
                  <a:srgbClr val="64748B"/>
                </a:solidFill>
                <a:latin typeface="Microsoft JhengHei"/>
                <a:ea typeface="Microsoft JhengHei"/>
              </a:rPr>
              <a:t>2027 第十三屆「北花蓮」全民科學週教案徵選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60350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5486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C99A3E"/>
                </a:solidFill>
                <a:latin typeface="Microsoft JhengHei"/>
                <a:ea typeface="Microsoft JhengHei"/>
              </a:rPr>
              <a:t>教案徵選（9/20（日）截止）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5486400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lang="zh-TW" sz="1300" b="0" i="0">
                <a:solidFill>
                  <a:srgbClr val="1E293B"/>
                </a:solidFill>
                <a:latin typeface="Microsoft JhengHei"/>
                <a:ea typeface="Microsoft JhengHei"/>
              </a:rPr>
              <a:t>・名額：國小組 6 名、國中高中組 6 名（不限花蓮教師）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lang="zh-TW" sz="1300" b="0" i="0">
                <a:solidFill>
                  <a:srgbClr val="1E293B"/>
                </a:solidFill>
                <a:latin typeface="Microsoft JhengHei"/>
                <a:ea typeface="Microsoft JhengHei"/>
              </a:rPr>
              <a:t>・入選三擇一：獎金 2,000 元／縣府敘獎／縣府獎狀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lang="zh-TW" sz="1300" b="0" i="0">
                <a:solidFill>
                  <a:srgbClr val="1E293B"/>
                </a:solidFill>
                <a:latin typeface="Microsoft JhengHei"/>
                <a:ea typeface="Microsoft JhengHei"/>
              </a:rPr>
              <a:t>・入選義務：12 月種子教師研習營擔任講師＋協助拍教案說明影片（講師費另給、無代課費）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lang="zh-TW" sz="1300" b="0" i="0">
                <a:solidFill>
                  <a:srgbClr val="1E293B"/>
                </a:solidFill>
                <a:latin typeface="Microsoft JhengHei"/>
                <a:ea typeface="Microsoft JhengHei"/>
              </a:rPr>
              <a:t>・投稿標的：另外一份「2 節課＋10 分鐘闖關版」實驗教案，用官方 C03 表格填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lang="zh-TW" sz="1300" b="0" i="0">
                <a:solidFill>
                  <a:srgbClr val="1E293B"/>
                </a:solidFill>
                <a:latin typeface="Microsoft JhengHei"/>
                <a:ea typeface="Microsoft JhengHei"/>
              </a:rPr>
              <a:t>・C03 的「教案來源」有一格叫「AI 協作」——官方明講可以，附上協作舉證即可；今天學的三段提示詞＋驗收口訣，就是那份舉證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lang="zh-TW" sz="1300" b="0" i="0">
                <a:solidFill>
                  <a:srgbClr val="1E293B"/>
                </a:solidFill>
                <a:latin typeface="Microsoft JhengHei"/>
                <a:ea typeface="Microsoft JhengHei"/>
              </a:rPr>
              <a:t>・C01/C02/C03 與範本：drive.google.com/drive/folders/1r8chsD3wRO_v_CXfxe0QyK9yTobaUOhH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1783080"/>
            <a:ext cx="44348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60920" y="1965960"/>
            <a:ext cx="3886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2E7D5B"/>
                </a:solidFill>
                <a:latin typeface="Microsoft JhengHei"/>
                <a:ea typeface="Microsoft JhengHei"/>
              </a:rPr>
              <a:t>兩個參考資源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2468880"/>
            <a:ext cx="3886200" cy="338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lang="zh-TW" sz="1300" b="0" i="0">
                <a:solidFill>
                  <a:srgbClr val="1E293B"/>
                </a:solidFill>
                <a:latin typeface="Microsoft JhengHei"/>
                <a:ea typeface="Microsoft JhengHei"/>
              </a:rPr>
              <a:t>北濱國小期末報告（教育部科教專案，臺師大科教中心 PDF）——學它「怎麼寫失敗與轉折」；報告格式仍以仰望範本為準：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lang="zh-TW" sz="1300" b="0" i="0">
                <a:solidFill>
                  <a:srgbClr val="1E293B"/>
                </a:solidFill>
                <a:latin typeface="Microsoft JhengHei"/>
                <a:ea typeface="Microsoft JhengHei"/>
              </a:rPr>
              <a:t>sec.ntnu.edu.tw（搜「北濱國民小學 線上報告」）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endParaRPr lang="zh-TW" sz="1300" b="0" i="0">
              <a:solidFill>
                <a:srgbClr val="1E293B"/>
              </a:solidFill>
              <a:latin typeface="Microsoft JhengHei"/>
              <a:ea typeface="Microsoft JhengHei"/>
            </a:endParaRP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lang="zh-TW" sz="1300" b="0" i="0">
                <a:solidFill>
                  <a:srgbClr val="1E293B"/>
                </a:solidFill>
                <a:latin typeface="Microsoft JhengHei"/>
                <a:ea typeface="Microsoft JhengHei"/>
              </a:rPr>
              <a:t>東華在地教案庫（2015–2026 歷年教案，免登入公開）：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lang="zh-TW" sz="1300" b="0" i="0">
                <a:solidFill>
                  <a:srgbClr val="1E293B"/>
                </a:solidFill>
                <a:latin typeface="Microsoft JhengHei"/>
                <a:ea typeface="Microsoft JhengHei"/>
              </a:rPr>
              <a:t>sites.google.com/view/be-ernt/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1C7293"/>
                </a:solidFill>
                <a:latin typeface="Microsoft JhengHei"/>
                <a:ea typeface="Microsoft JhengHei"/>
              </a:rPr>
              <a:t>24 / CO-CREATION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3000" b="1" i="0">
                <a:solidFill>
                  <a:srgbClr val="1E293B"/>
                </a:solidFill>
                <a:latin typeface="Microsoft JhengHei"/>
                <a:ea typeface="Microsoft JhengHei"/>
              </a:rPr>
              <a:t>這套教材，就是兩個人×兩個 AI 一起做出來的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1">
                <a:solidFill>
                  <a:srgbClr val="64748B"/>
                </a:solidFill>
                <a:latin typeface="Microsoft JhengHei"/>
                <a:ea typeface="Microsoft JhengHei"/>
              </a:rPr>
              <a:t>8/19 的另一堂示範課：AI 協作不是一個人的事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5204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2057400"/>
            <a:ext cx="3063240" cy="457200"/>
          </a:xfrm>
          <a:prstGeom prst="roundRect">
            <a:avLst>
              <a:gd name="adj" fmla="val 3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文盛老師的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306324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實測審查我方做的系統與簡報，開出 29 條改善工單——其中 9 條被「人」推翻，沒有照單全收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224528" y="2926080"/>
            <a:ext cx="274320" cy="27432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26280" y="1828800"/>
            <a:ext cx="35204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754880" y="2057400"/>
            <a:ext cx="3063240" cy="457200"/>
          </a:xfrm>
          <a:prstGeom prst="roundRect">
            <a:avLst>
              <a:gd name="adj" fmla="val 3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豐兆的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697480"/>
            <a:ext cx="306324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逐條認領工單、動手修改，每一條照「驗收判準」實測通過才改狀態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065008" y="2926080"/>
            <a:ext cx="274320" cy="27432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366760" y="1828800"/>
            <a:ext cx="352044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595360" y="2057400"/>
            <a:ext cx="3063240" cy="457200"/>
          </a:xfrm>
          <a:prstGeom prst="roundRect">
            <a:avLst>
              <a:gd name="adj" fmla="val 30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500" b="1">
                <a:solidFill>
                  <a:srgbClr val="0B1F3A"/>
                </a:solidFill>
                <a:latin typeface="Microsoft JhengHei"/>
              </a:rPr>
              <a:t>兩個人把關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697480"/>
            <a:ext cx="306324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lang="zh-TW" sz="1350" b="0" i="0">
                <a:solidFill>
                  <a:srgbClr val="1E293B"/>
                </a:solidFill>
                <a:latin typeface="Microsoft JhengHei"/>
                <a:ea typeface="Microsoft JhengHei"/>
              </a:rPr>
              <a:t>誰提的、誰改的、改之前長什麼樣——全部留在同一個 GitHub 倉庫的紀錄裡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800600"/>
            <a:ext cx="10835640" cy="685800"/>
          </a:xfrm>
          <a:prstGeom prst="roundRect">
            <a:avLst>
              <a:gd name="adj" fmla="val 15000"/>
            </a:avLst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93776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500" b="1" i="0">
                <a:solidFill>
                  <a:srgbClr val="FFFFFF"/>
                </a:solidFill>
                <a:latin typeface="Microsoft JhengHei"/>
                <a:ea typeface="Microsoft JhengHei"/>
              </a:rPr>
              <a:t>兩位老師合帶一個社團、或一位老師配一位行政，就是這個形狀——東西放同一個地方，誰改了什麼看得到。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715000"/>
            <a:ext cx="10835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350" b="1" i="0">
                <a:solidFill>
                  <a:srgbClr val="64748B"/>
                </a:solidFill>
                <a:latin typeface="Microsoft JhengHei"/>
                <a:ea typeface="Microsoft JhengHei"/>
              </a:rPr>
              <a:t>教材：陳文盛 × 游豐兆（CC BY-NC-SA 4.0）　</a:t>
            </a:r>
            <a:r>
              <a:rPr lang="zh-TW" sz="1350" b="1" i="0">
                <a:solidFill>
                  <a:srgbClr val="1C7293"/>
                </a:solidFill>
                <a:latin typeface="Microsoft JhengHei"/>
                <a:ea typeface="Microsoft JhengHei"/>
              </a:rPr>
              <a:t>github.com/cwstedctw/sci-club-toolkit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1" i="0">
                <a:solidFill>
                  <a:srgbClr val="1C7293"/>
                </a:solidFill>
                <a:latin typeface="Microsoft JhengHei"/>
                <a:ea typeface="Microsoft JhengHei"/>
              </a:rPr>
              <a:t>25 / NEXT 7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55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3000" b="1" i="0">
                <a:solidFill>
                  <a:srgbClr val="1E293B"/>
                </a:solidFill>
                <a:latin typeface="Microsoft JhengHei"/>
                <a:ea typeface="Microsoft JhengHei"/>
              </a:rPr>
              <a:t>回學校後的第一週，做這四件就好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400" b="0" i="1">
                <a:solidFill>
                  <a:srgbClr val="64748B"/>
                </a:solidFill>
                <a:latin typeface="Microsoft JhengHei"/>
                <a:ea typeface="Microsoft JhengHei"/>
              </a:rPr>
              <a:t>開學（9 月）前的準備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1083564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" y="1993392"/>
            <a:ext cx="566928" cy="56692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938528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lang="zh-TW" sz="1550" b="1" i="0">
                <a:solidFill>
                  <a:srgbClr val="1E293B"/>
                </a:solidFill>
                <a:latin typeface="Microsoft JhengHei"/>
                <a:ea typeface="Microsoft JhengHei"/>
              </a:rPr>
              <a:t>回饋單先印好備妥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920240"/>
            <a:ext cx="63093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zh-TW" sz="1300" b="0" i="0">
                <a:solidFill>
                  <a:srgbClr val="1E293B"/>
                </a:solidFill>
                <a:latin typeface="Microsoft JhengHei"/>
                <a:ea typeface="Microsoft JhengHei"/>
              </a:rPr>
              <a:t>印 30 份放進社團資料夾（開學就備好，不要拖到期末才想）；期末最後一兩堂課發下去、當場收回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852928"/>
            <a:ext cx="1083564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60120" y="3017520"/>
            <a:ext cx="566928" cy="56692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962656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lang="zh-TW" sz="1550" b="1" i="0">
                <a:solidFill>
                  <a:srgbClr val="1E293B"/>
                </a:solidFill>
                <a:latin typeface="Microsoft JhengHei"/>
                <a:ea typeface="Microsoft JhengHei"/>
              </a:rPr>
              <a:t>真名單貼進系統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944368"/>
            <a:ext cx="63093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zh-TW" sz="1300" b="0" i="0">
                <a:solidFill>
                  <a:srgbClr val="1E293B"/>
                </a:solidFill>
                <a:latin typeface="Microsoft JhengHei"/>
                <a:ea typeface="Microsoft JhengHei"/>
              </a:rPr>
              <a:t>拿到正式社團名單就貼；第一週上完課就點名、登材料費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877056"/>
            <a:ext cx="1083564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60120" y="4041648"/>
            <a:ext cx="566928" cy="566928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3986784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lang="zh-TW" sz="1550" b="1" i="0">
                <a:solidFill>
                  <a:srgbClr val="1E293B"/>
                </a:solidFill>
                <a:latin typeface="Microsoft JhengHei"/>
                <a:ea typeface="Microsoft JhengHei"/>
              </a:rPr>
              <a:t>跟出納對一次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968496"/>
            <a:ext cx="63093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zh-TW" sz="1300" b="0" i="0">
                <a:solidFill>
                  <a:srgbClr val="1E293B"/>
                </a:solidFill>
                <a:latin typeface="Microsoft JhengHei"/>
                <a:ea typeface="Microsoft JhengHei"/>
              </a:rPr>
              <a:t>拿「三個地雷」那頁去聊 10 分鐘，確認校內格式怎麼套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901184"/>
            <a:ext cx="1083564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60120" y="5065776"/>
            <a:ext cx="566928" cy="566928"/>
          </a:xfrm>
          <a:prstGeom prst="ellipse">
            <a:avLst/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5010912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lang="zh-TW" sz="1550" b="1" i="0">
                <a:solidFill>
                  <a:srgbClr val="1E293B"/>
                </a:solidFill>
                <a:latin typeface="Microsoft JhengHei"/>
                <a:ea typeface="Microsoft JhengHei"/>
              </a:rPr>
              <a:t>確認影像同意書範圍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4992624"/>
            <a:ext cx="63093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zh-TW" sz="1300" b="0" i="0">
                <a:solidFill>
                  <a:srgbClr val="1E293B"/>
                </a:solidFill>
                <a:latin typeface="Microsoft JhengHei"/>
                <a:ea typeface="Microsoft JhengHei"/>
              </a:rPr>
              <a:t>問學校既有「個資蒐集告知暨同意書」是否涵蓋「提供校外單位作成果報告」；沒涵蓋隨報名表補發；沒回條的孩子拍背影或手部特寫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998464"/>
            <a:ext cx="10835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zh-TW" sz="1300" b="1" i="0">
                <a:solidFill>
                  <a:srgbClr val="B43B3B"/>
                </a:solidFill>
                <a:latin typeface="Microsoft JhengHei"/>
                <a:ea typeface="Microsoft JhengHei"/>
              </a:rPr>
              <a:t>⚠ 電腦送修、歸還、借人前：</a:t>
            </a:r>
            <a:r>
              <a:rPr lang="zh-TW" sz="1300" b="0" i="0">
                <a:solidFill>
                  <a:srgbClr val="1E293B"/>
                </a:solidFill>
                <a:latin typeface="Microsoft JhengHei"/>
                <a:ea typeface="Microsoft JhengHei"/>
              </a:rPr>
              <a:t>先按「匯出備份」存好 .json，再按「清除全部資料」——名單存在瀏覽器裡，光刪 HTML 檔沒用。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仰望教育基金會 × 國立東華大學｜花蓮地區科學社團教師研習 2026/8/19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lang="zh-TW" sz="1000" b="0" i="0">
                <a:solidFill>
                  <a:srgbClr val="64748B"/>
                </a:solidFill>
                <a:latin typeface="Microsoft JhengHei"/>
                <a:ea typeface="Microsoft JhengHei"/>
              </a:rPr>
              <a:t>26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448495" y="-1645920"/>
            <a:ext cx="4572000" cy="4572000"/>
          </a:xfrm>
          <a:prstGeom prst="ellipse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600" b="1" i="0">
                <a:solidFill>
                  <a:srgbClr val="5FA98A"/>
                </a:solidFill>
                <a:latin typeface="Microsoft JhengHei"/>
                <a:ea typeface="Microsoft JhengHei"/>
              </a:rPr>
              <a:t>科學教育向下扎根・擴大學習影響力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607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zh-TW" sz="3200" b="1" i="0">
                <a:solidFill>
                  <a:srgbClr val="FFFFFF"/>
                </a:solidFill>
                <a:latin typeface="Microsoft JhengHei"/>
                <a:ea typeface="Microsoft JhengHei"/>
              </a:rPr>
              <a:t>不是你們落後——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lang="zh-TW" sz="3200" b="1" i="0">
                <a:solidFill>
                  <a:srgbClr val="FFFFFF"/>
                </a:solidFill>
                <a:latin typeface="Microsoft JhengHei"/>
                <a:ea typeface="Microsoft JhengHei"/>
              </a:rPr>
              <a:t>115 學年度全台 19 校一起開跑，這條路大家一起鋪。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114800"/>
            <a:ext cx="2048256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有問題隨時來信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35808" y="4114800"/>
            <a:ext cx="2171700" cy="384048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erntmap@gmail.com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72100" y="4114800"/>
            <a:ext cx="1435608" cy="384048"/>
          </a:xfrm>
          <a:prstGeom prst="roundRect">
            <a:avLst>
              <a:gd name="adj" fmla="val 50000"/>
            </a:avLst>
          </a:prstGeom>
          <a:solidFill>
            <a:srgbClr val="C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03-8905179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2920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800" b="1" i="0">
                <a:solidFill>
                  <a:srgbClr val="FFFFFF"/>
                </a:solidFill>
                <a:latin typeface="Microsoft JhengHei"/>
                <a:ea typeface="Microsoft JhengHei"/>
              </a:rPr>
              <a:t>游豐兆</a:t>
            </a:r>
            <a:r>
              <a:rPr lang="zh-TW" sz="1400" b="0" i="0">
                <a:solidFill>
                  <a:srgbClr val="9FB4CC"/>
                </a:solidFill>
                <a:latin typeface="Microsoft JhengHei"/>
                <a:ea typeface="Microsoft JhengHei"/>
              </a:rPr>
              <a:t>　仿生與環境實驗室・國立東華大學自然資源與環境學系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lang="zh-TW" sz="1300" b="0" i="0">
                <a:solidFill>
                  <a:srgbClr val="9FB4CC"/>
                </a:solidFill>
                <a:latin typeface="Microsoft JhengHei"/>
                <a:ea typeface="Microsoft JhengHei"/>
              </a:rPr>
              <a:t>感謝 仰望教育基金會（Kao Family Foundation）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7998</Words>
  <Application>Microsoft Office PowerPoint</Application>
  <PresentationFormat>寬螢幕</PresentationFormat>
  <Paragraphs>753</Paragraphs>
  <Slides>26</Slides>
  <Notes>26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26</vt:i4>
      </vt:variant>
    </vt:vector>
  </HeadingPairs>
  <TitlesOfParts>
    <vt:vector size="30" baseType="lpstr">
      <vt:lpstr>Microsoft JhengHei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>游豐兆</dc:creator>
  <cp:keywords/>
  <dc:description>generated using python-pptx</dc:description>
  <cp:lastModifiedBy>豐兆 游</cp:lastModifiedBy>
  <cp:revision>6</cp:revision>
  <dcterms:created xsi:type="dcterms:W3CDTF">2013-01-27T09:14:16Z</dcterms:created>
  <dcterms:modified xsi:type="dcterms:W3CDTF">2026-08-14T23:47:53Z</dcterms:modified>
  <cp:category/>
</cp:coreProperties>
</file>